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513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TrialGuard AI is a real-time monitoring platform for clinical trials. It automatically detects protocol deviations across every site, scores each site for risk, and generates regulatory-ready CAPA reports. Eight slides: the problem, what we built, how detection and scoring work, the product and the IBM layer, the architecture, the design principle behind it, and impact.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Phase III trial costs $50-100M. The protocol is the rulebook every site must follow exactly: when patients visit, what dose they get, what tests get run, what drugs they must not be on. Any violation is a protocol deviation. Detection today is manual — a Clinical Research Associate physically travels to each site and reviews maybe 10% of records. So 90% goes unreviewed until the FDA audit, when it is too late. And the failure that hurts most is systemic: thirty sites all misreading the same dosing instruction. No CRA can see that, because each one only sees one site.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capabilities. First, we ingest every visit record from every site and check it against the protocol — not a sample, everything — classifying each violation by severity using real ICH E6(R2) guidelines. Second, each site gets a 0-100 risk score so a manager with 210 sites knows where to look first. Third, for any site we generate the complete CAPA report an auditor expects. Fourth, the whole engine is available to IBM Bob over MCP.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five categories, each mapped to a concrete protocol clause, each with severity assigned by ICH E6(R2). Right side: the risk score is a published formula, not a model — a trial manager can reproduce it by hand. Volume and severity is the base, trend matters because a site getting worse is a live problem, pattern diversity is our systemic-failure signal, and patient impact is what the regulator ultimately cares about.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surfaces on one engine. CAPA generation is the regulatory output — days of quality-manager work compressed to seconds, with watsonx improving readability after the deterministic report already exists. The dashboard is for trial managers; walk the demo as overview, leaderboard, SITE-004 detail, then generate the CAPA live. And Bob is a real MCP server with five tools — it can detect, score and generate entirely on its own, which is what makes it load-bearing rather than decorative.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down. Two client surfaces on two parallel interfaces — FastAPI and the MCP server are siblings, not a stack. Bob does not proxy through the dashboard API; both import the same Python modules, so a risk score is identical whichever path you take. The engine has four components and is entirely rule-based. Everything reads data through a DataSource abstract base class, so Mock and Supabase swap with one environment variable and nothing above that line knows Postgres exists. watsonx hangs off the side rather than sitting in the flow — that is the visual argument for the design principle on the next slide. The FHIR adapter is currently a leaf; it is the hook for EHR integration.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a hackathon demo. It would have been easier to throw every visit record at an LLM and ask it to find problems — but that system is unusable in a real trial, because the moment an inspector asks why a record was flagged you have nothing to show them. So everything that constitutes a regulatory judgement is rule-based and reproducible, and the LLM only rewrites text a human will read. The stack underneath is production-grade: real Postgres with row level security, and the standards row is what the pharma audience will care about most.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impact: 100% coverage instead of 10% sampling, real-time instead of retrospective, seconds instead of weeks, output a regulator recognises. On the roadmap, the FHIR adapter is the important one — it is already built, so connecting to a hospital EHR is an integration job rather than a rewrite. One honest note if asked: visits currently land in Supabase by seed script, with FHIR as the intended production ingestion path. Close on the principle: deterministic where regulation demands it, conversational where it helps an auditor, regulatory-ready throughout.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E1F5EE"/>
          </a:solidFill>
          <a:ln w="12700">
            <a:solidFill>
              <a:srgbClr val="E1F5EE"/>
            </a:solidFill>
            <a:prstDash val="solid"/>
          </a:ln>
        </p:spPr>
      </p:sp>
      <p:sp>
        <p:nvSpPr>
          <p:cNvPr id="5" name="Text 3"/>
          <p:cNvSpPr txBox="1"/>
          <p:nvPr/>
        </p:nvSpPr>
        <p:spPr>
          <a:xfrm>
            <a:off x="4846320" y="1920240"/>
            <a:ext cx="6858000" cy="868680"/>
          </a:xfrm>
          <a:prstGeom prst="rect">
            <a:avLst/>
          </a:prstGeom>
          <a:noFill/>
          <a:ln/>
        </p:spPr>
        <p:txBody>
          <a:bodyPr wrap="square" lIns="0" tIns="0" rIns="0" bIns="0" rtlCol="0" anchor="ctr"/>
          <a:lstStyle/>
          <a:p>
            <a:pPr marL="0" indent="0">
              <a:buNone/>
            </a:pPr>
            <a:r>
              <a:rPr lang="en-US" sz="4800" b="1" dirty="0">
                <a:solidFill>
                  <a:srgbClr val="2C2C2A"/>
                </a:solidFill>
                <a:latin typeface="Cambria" pitchFamily="34" charset="0"/>
                <a:ea typeface="Cambria" pitchFamily="34" charset="-122"/>
                <a:cs typeface="Cambria" pitchFamily="34" charset="-120"/>
              </a:rPr>
              <a:t>TrialGuard AI</a:t>
            </a:r>
            <a:endParaRPr lang="en-US" sz="4800" dirty="0"/>
          </a:p>
        </p:txBody>
      </p:sp>
      <p:sp>
        <p:nvSpPr>
          <p:cNvPr id="6" name="Text 4"/>
          <p:cNvSpPr txBox="1"/>
          <p:nvPr/>
        </p:nvSpPr>
        <p:spPr>
          <a:xfrm>
            <a:off x="4846320" y="2834640"/>
            <a:ext cx="6675120" cy="640080"/>
          </a:xfrm>
          <a:prstGeom prst="rect">
            <a:avLst/>
          </a:prstGeom>
          <a:noFill/>
          <a:ln/>
        </p:spPr>
        <p:txBody>
          <a:bodyPr wrap="square" lIns="0" tIns="0" rIns="0" bIns="0" rtlCol="0" anchor="ctr"/>
          <a:lstStyle/>
          <a:p>
            <a:pPr marL="0" indent="0">
              <a:buNone/>
            </a:pPr>
            <a:r>
              <a:rPr lang="en-US" sz="1700" dirty="0">
                <a:solidFill>
                  <a:srgbClr val="5F5E5A"/>
                </a:solidFill>
                <a:latin typeface="Calibri" pitchFamily="34" charset="0"/>
                <a:ea typeface="Calibri" pitchFamily="34" charset="-122"/>
                <a:cs typeface="Calibri" pitchFamily="34" charset="-120"/>
              </a:rPr>
              <a:t>Real-time clinical trial risk monitoring and automated protocol deviation detection</a:t>
            </a:r>
            <a:endParaRPr lang="en-US" sz="1700" dirty="0"/>
          </a:p>
        </p:txBody>
      </p:sp>
      <p:sp>
        <p:nvSpPr>
          <p:cNvPr id="7" name="Text 5"/>
          <p:cNvSpPr txBox="1"/>
          <p:nvPr/>
        </p:nvSpPr>
        <p:spPr>
          <a:xfrm>
            <a:off x="4846320" y="3611880"/>
            <a:ext cx="6675120" cy="365760"/>
          </a:xfrm>
          <a:prstGeom prst="rect">
            <a:avLst/>
          </a:prstGeom>
          <a:noFill/>
          <a:ln/>
        </p:spPr>
        <p:txBody>
          <a:bodyPr wrap="square" lIns="0" tIns="0" rIns="0" bIns="0" rtlCol="0" anchor="ctr"/>
          <a:lstStyle/>
          <a:p>
            <a:pPr marL="0" indent="0">
              <a:buNone/>
            </a:pPr>
            <a:r>
              <a:rPr lang="en-US" sz="1600" i="1" dirty="0">
                <a:solidFill>
                  <a:srgbClr val="0F6E56"/>
                </a:solidFill>
                <a:latin typeface="Cambria" pitchFamily="34" charset="0"/>
                <a:ea typeface="Cambria" pitchFamily="34" charset="-122"/>
                <a:cs typeface="Cambria" pitchFamily="34" charset="-120"/>
              </a:rPr>
              <a:t>Catch what humans miss. Before the FDA does.</a:t>
            </a:r>
            <a:endParaRPr lang="en-US" sz="1600" dirty="0"/>
          </a:p>
        </p:txBody>
      </p:sp>
      <p:sp>
        <p:nvSpPr>
          <p:cNvPr id="8" name="Text 6"/>
          <p:cNvSpPr txBox="1"/>
          <p:nvPr/>
        </p:nvSpPr>
        <p:spPr>
          <a:xfrm>
            <a:off x="4846320" y="4800600"/>
            <a:ext cx="2194560" cy="201168"/>
          </a:xfrm>
          <a:prstGeom prst="rect">
            <a:avLst/>
          </a:prstGeom>
          <a:noFill/>
          <a:ln/>
        </p:spPr>
        <p:txBody>
          <a:bodyPr wrap="square" lIns="0" tIns="0" rIns="0" bIns="0" rtlCol="0" anchor="ctr"/>
          <a:lstStyle/>
          <a:p>
            <a:pPr marL="0" indent="0">
              <a:buNone/>
            </a:pPr>
            <a:r>
              <a:rPr lang="en-US" sz="950" b="1" kern="0" spc="150" dirty="0">
                <a:solidFill>
                  <a:srgbClr val="1D9E75"/>
                </a:solidFill>
                <a:latin typeface="Calibri" pitchFamily="34" charset="0"/>
                <a:ea typeface="Calibri" pitchFamily="34" charset="-122"/>
                <a:cs typeface="Calibri" pitchFamily="34" charset="-120"/>
              </a:rPr>
              <a:t>TEAM</a:t>
            </a:r>
            <a:endParaRPr lang="en-US" sz="950" dirty="0"/>
          </a:p>
        </p:txBody>
      </p:sp>
      <p:sp>
        <p:nvSpPr>
          <p:cNvPr id="9" name="Text 7"/>
          <p:cNvSpPr txBox="1"/>
          <p:nvPr/>
        </p:nvSpPr>
        <p:spPr>
          <a:xfrm>
            <a:off x="4846320" y="5010912"/>
            <a:ext cx="2194560" cy="274320"/>
          </a:xfrm>
          <a:prstGeom prst="rect">
            <a:avLst/>
          </a:prstGeom>
          <a:noFill/>
          <a:ln/>
        </p:spPr>
        <p:txBody>
          <a:bodyPr wrap="square" lIns="0" tIns="0" rIns="0" bIns="0" rtlCol="0" anchor="ctr"/>
          <a:lstStyle/>
          <a:p>
            <a:pPr marL="0" indent="0">
              <a:buNone/>
            </a:pPr>
            <a:r>
              <a:rPr lang="en-US" sz="1300" dirty="0">
                <a:solidFill>
                  <a:srgbClr val="2C2C2A"/>
                </a:solidFill>
                <a:latin typeface="Calibri" pitchFamily="34" charset="0"/>
                <a:ea typeface="Calibri" pitchFamily="34" charset="-122"/>
                <a:cs typeface="Calibri" pitchFamily="34" charset="-120"/>
              </a:rPr>
              <a:t>Team Photon</a:t>
            </a:r>
            <a:endParaRPr lang="en-US" sz="1300" dirty="0"/>
          </a:p>
        </p:txBody>
      </p:sp>
      <p:sp>
        <p:nvSpPr>
          <p:cNvPr id="10" name="Text 8"/>
          <p:cNvSpPr txBox="1"/>
          <p:nvPr/>
        </p:nvSpPr>
        <p:spPr>
          <a:xfrm>
            <a:off x="7132320" y="4800600"/>
            <a:ext cx="2194560" cy="201168"/>
          </a:xfrm>
          <a:prstGeom prst="rect">
            <a:avLst/>
          </a:prstGeom>
          <a:noFill/>
          <a:ln/>
        </p:spPr>
        <p:txBody>
          <a:bodyPr wrap="square" lIns="0" tIns="0" rIns="0" bIns="0" rtlCol="0" anchor="ctr"/>
          <a:lstStyle/>
          <a:p>
            <a:pPr marL="0" indent="0">
              <a:buNone/>
            </a:pPr>
            <a:r>
              <a:rPr lang="en-US" sz="950" b="1" kern="0" spc="150" dirty="0">
                <a:solidFill>
                  <a:srgbClr val="1D9E75"/>
                </a:solidFill>
                <a:latin typeface="Calibri" pitchFamily="34" charset="0"/>
                <a:ea typeface="Calibri" pitchFamily="34" charset="-122"/>
                <a:cs typeface="Calibri" pitchFamily="34" charset="-120"/>
              </a:rPr>
              <a:t>TRACK</a:t>
            </a:r>
            <a:endParaRPr lang="en-US" sz="950" dirty="0"/>
          </a:p>
        </p:txBody>
      </p:sp>
      <p:sp>
        <p:nvSpPr>
          <p:cNvPr id="11" name="Text 9"/>
          <p:cNvSpPr txBox="1"/>
          <p:nvPr/>
        </p:nvSpPr>
        <p:spPr>
          <a:xfrm>
            <a:off x="7132320" y="5010912"/>
            <a:ext cx="2194560" cy="274320"/>
          </a:xfrm>
          <a:prstGeom prst="rect">
            <a:avLst/>
          </a:prstGeom>
          <a:noFill/>
          <a:ln/>
        </p:spPr>
        <p:txBody>
          <a:bodyPr wrap="square" lIns="0" tIns="0" rIns="0" bIns="0" rtlCol="0" anchor="ctr"/>
          <a:lstStyle/>
          <a:p>
            <a:pPr marL="0" indent="0">
              <a:buNone/>
            </a:pPr>
            <a:r>
              <a:rPr lang="en-US" sz="1300" dirty="0">
                <a:solidFill>
                  <a:srgbClr val="2C2C2A"/>
                </a:solidFill>
                <a:latin typeface="Calibri" pitchFamily="34" charset="0"/>
                <a:ea typeface="Calibri" pitchFamily="34" charset="-122"/>
                <a:cs typeface="Calibri" pitchFamily="34" charset="-120"/>
              </a:rPr>
              <a:t>AI</a:t>
            </a:r>
            <a:endParaRPr lang="en-US" sz="1300" dirty="0"/>
          </a:p>
        </p:txBody>
      </p:sp>
      <p:sp>
        <p:nvSpPr>
          <p:cNvPr id="12" name="Text 10"/>
          <p:cNvSpPr txBox="1"/>
          <p:nvPr/>
        </p:nvSpPr>
        <p:spPr>
          <a:xfrm>
            <a:off x="9418320" y="4800600"/>
            <a:ext cx="2194560" cy="201168"/>
          </a:xfrm>
          <a:prstGeom prst="rect">
            <a:avLst/>
          </a:prstGeom>
          <a:noFill/>
          <a:ln/>
        </p:spPr>
        <p:txBody>
          <a:bodyPr wrap="square" lIns="0" tIns="0" rIns="0" bIns="0" rtlCol="0" anchor="ctr"/>
          <a:lstStyle/>
          <a:p>
            <a:pPr marL="0" indent="0">
              <a:buNone/>
            </a:pPr>
            <a:r>
              <a:rPr lang="en-US" sz="950" b="1" kern="0" spc="150" dirty="0">
                <a:solidFill>
                  <a:srgbClr val="1D9E75"/>
                </a:solidFill>
                <a:latin typeface="Calibri" pitchFamily="34" charset="0"/>
                <a:ea typeface="Calibri" pitchFamily="34" charset="-122"/>
                <a:cs typeface="Calibri" pitchFamily="34" charset="-120"/>
              </a:rPr>
              <a:t>EVENT</a:t>
            </a:r>
            <a:endParaRPr lang="en-US" sz="950" dirty="0"/>
          </a:p>
        </p:txBody>
      </p:sp>
      <p:sp>
        <p:nvSpPr>
          <p:cNvPr id="13" name="Text 11"/>
          <p:cNvSpPr txBox="1"/>
          <p:nvPr/>
        </p:nvSpPr>
        <p:spPr>
          <a:xfrm>
            <a:off x="9418320" y="5010912"/>
            <a:ext cx="2194560" cy="274320"/>
          </a:xfrm>
          <a:prstGeom prst="rect">
            <a:avLst/>
          </a:prstGeom>
          <a:noFill/>
          <a:ln/>
        </p:spPr>
        <p:txBody>
          <a:bodyPr wrap="square" lIns="0" tIns="0" rIns="0" bIns="0" rtlCol="0" anchor="ctr"/>
          <a:lstStyle/>
          <a:p>
            <a:pPr marL="0" indent="0">
              <a:buNone/>
            </a:pPr>
            <a:r>
              <a:rPr lang="en-US" sz="1300" dirty="0">
                <a:solidFill>
                  <a:srgbClr val="2C2C2A"/>
                </a:solidFill>
                <a:latin typeface="Calibri" pitchFamily="34" charset="0"/>
                <a:ea typeface="Calibri" pitchFamily="34" charset="-122"/>
                <a:cs typeface="Calibri" pitchFamily="34" charset="-120"/>
              </a:rPr>
              <a:t>Bob AI Hackathon 2026</a:t>
            </a:r>
            <a:endParaRPr lang="en-US" sz="1300" dirty="0"/>
          </a:p>
        </p:txBody>
      </p:sp>
      <p:pic>
        <p:nvPicPr>
          <p:cNvPr id="16" name="Picture 15">
            <a:extLst>
              <a:ext uri="{FF2B5EF4-FFF2-40B4-BE49-F238E27FC236}">
                <a16:creationId xmlns:a16="http://schemas.microsoft.com/office/drawing/2014/main" id="{08D4343B-EBD6-94DB-77B0-B76D86A4FDA5}"/>
              </a:ext>
            </a:extLst>
          </p:cNvPr>
          <p:cNvPicPr>
            <a:picLocks noChangeAspect="1"/>
          </p:cNvPicPr>
          <p:nvPr/>
        </p:nvPicPr>
        <p:blipFill>
          <a:blip r:embed="rId3"/>
          <a:stretch>
            <a:fillRect/>
          </a:stretch>
        </p:blipFill>
        <p:spPr>
          <a:xfrm>
            <a:off x="0" y="0"/>
            <a:ext cx="454656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PROBLEM DEFINITION</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The $100 million blind spot</a:t>
            </a:r>
            <a:endParaRPr lang="en-US" sz="3100" dirty="0"/>
          </a:p>
        </p:txBody>
      </p:sp>
      <p:sp>
        <p:nvSpPr>
          <p:cNvPr id="4" name="Text 2"/>
          <p:cNvSpPr txBox="1"/>
          <p:nvPr/>
        </p:nvSpPr>
        <p:spPr>
          <a:xfrm>
            <a:off x="548640" y="1024128"/>
            <a:ext cx="11064240" cy="274320"/>
          </a:xfrm>
          <a:prstGeom prst="rect">
            <a:avLst/>
          </a:prstGeom>
          <a:noFill/>
          <a:ln/>
        </p:spPr>
        <p:txBody>
          <a:bodyPr wrap="square" lIns="0" tIns="0" rIns="0" bIns="0" rtlCol="0" anchor="ctr"/>
          <a:lstStyle/>
          <a:p>
            <a:pPr marL="0" indent="0">
              <a:buNone/>
            </a:pPr>
            <a:r>
              <a:rPr lang="en-US" sz="1400" dirty="0">
                <a:solidFill>
                  <a:srgbClr val="5F5E5A"/>
                </a:solidFill>
                <a:latin typeface="Calibri" pitchFamily="34" charset="0"/>
                <a:ea typeface="Calibri" pitchFamily="34" charset="-122"/>
                <a:cs typeface="Calibri" pitchFamily="34" charset="-120"/>
              </a:rPr>
              <a:t>Every patient visit must follow the protocol exactly. Today, almost nobody checks.</a:t>
            </a:r>
            <a:endParaRPr lang="en-US" sz="1400" dirty="0"/>
          </a:p>
        </p:txBody>
      </p:sp>
      <p:sp>
        <p:nvSpPr>
          <p:cNvPr id="5" name="Text 3"/>
          <p:cNvSpPr txBox="1"/>
          <p:nvPr/>
        </p:nvSpPr>
        <p:spPr>
          <a:xfrm>
            <a:off x="548640" y="1417320"/>
            <a:ext cx="11064240" cy="256032"/>
          </a:xfrm>
          <a:prstGeom prst="rect">
            <a:avLst/>
          </a:prstGeom>
          <a:noFill/>
          <a:ln/>
        </p:spPr>
        <p:txBody>
          <a:bodyPr wrap="square" lIns="0" tIns="0" rIns="0" bIns="0" rtlCol="0" anchor="ctr"/>
          <a:lstStyle/>
          <a:p>
            <a:pPr marL="0" indent="0">
              <a:buNone/>
            </a:pPr>
            <a:r>
              <a:rPr lang="en-US" sz="1300" b="1" dirty="0">
                <a:solidFill>
                  <a:srgbClr val="2C2C2A"/>
                </a:solidFill>
                <a:latin typeface="Calibri" pitchFamily="34" charset="0"/>
                <a:ea typeface="Calibri" pitchFamily="34" charset="-122"/>
                <a:cs typeface="Calibri" pitchFamily="34" charset="-120"/>
              </a:rPr>
              <a:t>How deviation detection works today</a:t>
            </a:r>
            <a:endParaRPr lang="en-US" sz="1300" dirty="0"/>
          </a:p>
        </p:txBody>
      </p:sp>
      <p:sp>
        <p:nvSpPr>
          <p:cNvPr id="6" name="Shape 4"/>
          <p:cNvSpPr/>
          <p:nvPr/>
        </p:nvSpPr>
        <p:spPr>
          <a:xfrm>
            <a:off x="548640" y="1719072"/>
            <a:ext cx="2048256" cy="1207008"/>
          </a:xfrm>
          <a:prstGeom prst="roundRect">
            <a:avLst>
              <a:gd name="adj" fmla="val 5303"/>
            </a:avLst>
          </a:prstGeom>
          <a:solidFill>
            <a:srgbClr val="F1EFE8"/>
          </a:solidFill>
          <a:ln w="9525">
            <a:solidFill>
              <a:srgbClr val="D3D1C7"/>
            </a:solidFill>
            <a:prstDash val="solid"/>
          </a:ln>
        </p:spPr>
      </p:sp>
      <p:sp>
        <p:nvSpPr>
          <p:cNvPr id="7" name="Text 5"/>
          <p:cNvSpPr txBox="1"/>
          <p:nvPr/>
        </p:nvSpPr>
        <p:spPr>
          <a:xfrm>
            <a:off x="676656" y="1828800"/>
            <a:ext cx="1792224" cy="420624"/>
          </a:xfrm>
          <a:prstGeom prst="rect">
            <a:avLst/>
          </a:prstGeom>
          <a:noFill/>
          <a:ln/>
        </p:spPr>
        <p:txBody>
          <a:bodyPr wrap="square" lIns="0" tIns="0" rIns="0" bIns="0" rtlCol="0" anchor="ctr"/>
          <a:lstStyle/>
          <a:p>
            <a:pPr marL="0" indent="0">
              <a:buNone/>
            </a:pPr>
            <a:r>
              <a:rPr lang="en-US" sz="1250" b="1" dirty="0">
                <a:solidFill>
                  <a:srgbClr val="2C2C2A"/>
                </a:solidFill>
                <a:latin typeface="Calibri" pitchFamily="34" charset="0"/>
                <a:ea typeface="Calibri" pitchFamily="34" charset="-122"/>
                <a:cs typeface="Calibri" pitchFamily="34" charset="-120"/>
              </a:rPr>
              <a:t>210 sites</a:t>
            </a:r>
            <a:endParaRPr lang="en-US" sz="1250" dirty="0"/>
          </a:p>
        </p:txBody>
      </p:sp>
      <p:sp>
        <p:nvSpPr>
          <p:cNvPr id="8" name="Text 6"/>
          <p:cNvSpPr txBox="1"/>
          <p:nvPr/>
        </p:nvSpPr>
        <p:spPr>
          <a:xfrm>
            <a:off x="676656" y="2267712"/>
            <a:ext cx="1792224" cy="603504"/>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5,000+ patient visits recorded in site spreadsheets and EDC systems</a:t>
            </a:r>
            <a:endParaRPr lang="en-US" sz="950" dirty="0"/>
          </a:p>
        </p:txBody>
      </p:sp>
      <p:sp>
        <p:nvSpPr>
          <p:cNvPr id="9" name="Shape 7"/>
          <p:cNvSpPr/>
          <p:nvPr/>
        </p:nvSpPr>
        <p:spPr>
          <a:xfrm>
            <a:off x="2615184" y="2322576"/>
            <a:ext cx="164592" cy="0"/>
          </a:xfrm>
          <a:prstGeom prst="line">
            <a:avLst/>
          </a:prstGeom>
          <a:noFill/>
          <a:ln w="12700">
            <a:solidFill>
              <a:srgbClr val="888780"/>
            </a:solidFill>
            <a:prstDash val="solid"/>
            <a:tailEnd type="triangle"/>
          </a:ln>
        </p:spPr>
      </p:sp>
      <p:sp>
        <p:nvSpPr>
          <p:cNvPr id="10" name="Shape 8"/>
          <p:cNvSpPr/>
          <p:nvPr/>
        </p:nvSpPr>
        <p:spPr>
          <a:xfrm>
            <a:off x="2798064" y="1719072"/>
            <a:ext cx="2048256" cy="1207008"/>
          </a:xfrm>
          <a:prstGeom prst="roundRect">
            <a:avLst>
              <a:gd name="adj" fmla="val 5303"/>
            </a:avLst>
          </a:prstGeom>
          <a:solidFill>
            <a:srgbClr val="F1EFE8"/>
          </a:solidFill>
          <a:ln w="9525">
            <a:solidFill>
              <a:srgbClr val="D3D1C7"/>
            </a:solidFill>
            <a:prstDash val="solid"/>
          </a:ln>
        </p:spPr>
      </p:sp>
      <p:sp>
        <p:nvSpPr>
          <p:cNvPr id="11" name="Text 9"/>
          <p:cNvSpPr txBox="1"/>
          <p:nvPr/>
        </p:nvSpPr>
        <p:spPr>
          <a:xfrm>
            <a:off x="2926080" y="1828800"/>
            <a:ext cx="1792224" cy="420624"/>
          </a:xfrm>
          <a:prstGeom prst="rect">
            <a:avLst/>
          </a:prstGeom>
          <a:noFill/>
          <a:ln/>
        </p:spPr>
        <p:txBody>
          <a:bodyPr wrap="square" lIns="0" tIns="0" rIns="0" bIns="0" rtlCol="0" anchor="ctr"/>
          <a:lstStyle/>
          <a:p>
            <a:pPr marL="0" indent="0">
              <a:buNone/>
            </a:pPr>
            <a:r>
              <a:rPr lang="en-US" sz="1250" b="1" dirty="0">
                <a:solidFill>
                  <a:srgbClr val="2C2C2A"/>
                </a:solidFill>
                <a:latin typeface="Calibri" pitchFamily="34" charset="0"/>
                <a:ea typeface="Calibri" pitchFamily="34" charset="-122"/>
                <a:cs typeface="Calibri" pitchFamily="34" charset="-120"/>
              </a:rPr>
              <a:t>CRA travels to site</a:t>
            </a:r>
            <a:endParaRPr lang="en-US" sz="1250" dirty="0"/>
          </a:p>
        </p:txBody>
      </p:sp>
      <p:sp>
        <p:nvSpPr>
          <p:cNvPr id="12" name="Text 10"/>
          <p:cNvSpPr txBox="1"/>
          <p:nvPr/>
        </p:nvSpPr>
        <p:spPr>
          <a:xfrm>
            <a:off x="2926080" y="2267712"/>
            <a:ext cx="1792224" cy="603504"/>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A monitor flies out and reviews records by hand over several days</a:t>
            </a:r>
            <a:endParaRPr lang="en-US" sz="950" dirty="0"/>
          </a:p>
        </p:txBody>
      </p:sp>
      <p:sp>
        <p:nvSpPr>
          <p:cNvPr id="13" name="Shape 11"/>
          <p:cNvSpPr/>
          <p:nvPr/>
        </p:nvSpPr>
        <p:spPr>
          <a:xfrm>
            <a:off x="4864608" y="2322576"/>
            <a:ext cx="164592" cy="0"/>
          </a:xfrm>
          <a:prstGeom prst="line">
            <a:avLst/>
          </a:prstGeom>
          <a:noFill/>
          <a:ln w="12700">
            <a:solidFill>
              <a:srgbClr val="888780"/>
            </a:solidFill>
            <a:prstDash val="solid"/>
            <a:tailEnd type="triangle"/>
          </a:ln>
        </p:spPr>
      </p:sp>
      <p:sp>
        <p:nvSpPr>
          <p:cNvPr id="14" name="Shape 12"/>
          <p:cNvSpPr/>
          <p:nvPr/>
        </p:nvSpPr>
        <p:spPr>
          <a:xfrm>
            <a:off x="5047488" y="1719072"/>
            <a:ext cx="2048256" cy="1207008"/>
          </a:xfrm>
          <a:prstGeom prst="roundRect">
            <a:avLst>
              <a:gd name="adj" fmla="val 5303"/>
            </a:avLst>
          </a:prstGeom>
          <a:solidFill>
            <a:srgbClr val="FAECE7"/>
          </a:solidFill>
          <a:ln w="9525">
            <a:solidFill>
              <a:srgbClr val="D85A30"/>
            </a:solidFill>
            <a:prstDash val="solid"/>
          </a:ln>
        </p:spPr>
      </p:sp>
      <p:sp>
        <p:nvSpPr>
          <p:cNvPr id="15" name="Text 13"/>
          <p:cNvSpPr txBox="1"/>
          <p:nvPr/>
        </p:nvSpPr>
        <p:spPr>
          <a:xfrm>
            <a:off x="5175504" y="1828800"/>
            <a:ext cx="1792224" cy="420624"/>
          </a:xfrm>
          <a:prstGeom prst="rect">
            <a:avLst/>
          </a:prstGeom>
          <a:noFill/>
          <a:ln/>
        </p:spPr>
        <p:txBody>
          <a:bodyPr wrap="square" lIns="0" tIns="0" rIns="0" bIns="0" rtlCol="0" anchor="ctr"/>
          <a:lstStyle/>
          <a:p>
            <a:pPr marL="0" indent="0">
              <a:buNone/>
            </a:pPr>
            <a:r>
              <a:rPr lang="en-US" sz="1250" b="1" dirty="0">
                <a:solidFill>
                  <a:srgbClr val="993C1D"/>
                </a:solidFill>
                <a:latin typeface="Calibri" pitchFamily="34" charset="0"/>
                <a:ea typeface="Calibri" pitchFamily="34" charset="-122"/>
                <a:cs typeface="Calibri" pitchFamily="34" charset="-120"/>
              </a:rPr>
              <a:t>10% sample reviewed</a:t>
            </a:r>
            <a:endParaRPr lang="en-US" sz="1250" dirty="0"/>
          </a:p>
        </p:txBody>
      </p:sp>
      <p:sp>
        <p:nvSpPr>
          <p:cNvPr id="16" name="Text 14"/>
          <p:cNvSpPr txBox="1"/>
          <p:nvPr/>
        </p:nvSpPr>
        <p:spPr>
          <a:xfrm>
            <a:off x="5175504" y="2267712"/>
            <a:ext cx="1792224" cy="603504"/>
          </a:xfrm>
          <a:prstGeom prst="rect">
            <a:avLst/>
          </a:prstGeom>
          <a:noFill/>
          <a:ln/>
        </p:spPr>
        <p:txBody>
          <a:bodyPr wrap="square" lIns="0" tIns="0" rIns="0" bIns="0" rtlCol="0" anchor="ctr"/>
          <a:lstStyle/>
          <a:p>
            <a:pPr marL="0" indent="0">
              <a:buNone/>
            </a:pPr>
            <a:r>
              <a:rPr lang="en-US" sz="950" dirty="0">
                <a:solidFill>
                  <a:srgbClr val="993C1D"/>
                </a:solidFill>
                <a:latin typeface="Calibri" pitchFamily="34" charset="0"/>
                <a:ea typeface="Calibri" pitchFamily="34" charset="-122"/>
                <a:cs typeface="Calibri" pitchFamily="34" charset="-120"/>
              </a:rPr>
              <a:t>Only a fraction of records are opened; selection is periodic, not risk-driven</a:t>
            </a:r>
            <a:endParaRPr lang="en-US" sz="950" dirty="0"/>
          </a:p>
        </p:txBody>
      </p:sp>
      <p:sp>
        <p:nvSpPr>
          <p:cNvPr id="17" name="Shape 15"/>
          <p:cNvSpPr/>
          <p:nvPr/>
        </p:nvSpPr>
        <p:spPr>
          <a:xfrm>
            <a:off x="7114032" y="2322576"/>
            <a:ext cx="164592" cy="0"/>
          </a:xfrm>
          <a:prstGeom prst="line">
            <a:avLst/>
          </a:prstGeom>
          <a:noFill/>
          <a:ln w="12700">
            <a:solidFill>
              <a:srgbClr val="888780"/>
            </a:solidFill>
            <a:prstDash val="solid"/>
            <a:tailEnd type="triangle"/>
          </a:ln>
        </p:spPr>
      </p:sp>
      <p:sp>
        <p:nvSpPr>
          <p:cNvPr id="18" name="Shape 16"/>
          <p:cNvSpPr/>
          <p:nvPr/>
        </p:nvSpPr>
        <p:spPr>
          <a:xfrm>
            <a:off x="7296912" y="1719072"/>
            <a:ext cx="2048256" cy="1207008"/>
          </a:xfrm>
          <a:prstGeom prst="roundRect">
            <a:avLst>
              <a:gd name="adj" fmla="val 5303"/>
            </a:avLst>
          </a:prstGeom>
          <a:solidFill>
            <a:srgbClr val="FAECE7"/>
          </a:solidFill>
          <a:ln w="9525">
            <a:solidFill>
              <a:srgbClr val="D85A30"/>
            </a:solidFill>
            <a:prstDash val="solid"/>
          </a:ln>
        </p:spPr>
      </p:sp>
      <p:sp>
        <p:nvSpPr>
          <p:cNvPr id="19" name="Text 17"/>
          <p:cNvSpPr txBox="1"/>
          <p:nvPr/>
        </p:nvSpPr>
        <p:spPr>
          <a:xfrm>
            <a:off x="7424928" y="1828800"/>
            <a:ext cx="1792224" cy="420624"/>
          </a:xfrm>
          <a:prstGeom prst="rect">
            <a:avLst/>
          </a:prstGeom>
          <a:noFill/>
          <a:ln/>
        </p:spPr>
        <p:txBody>
          <a:bodyPr wrap="square" lIns="0" tIns="0" rIns="0" bIns="0" rtlCol="0" anchor="ctr"/>
          <a:lstStyle/>
          <a:p>
            <a:pPr marL="0" indent="0">
              <a:buNone/>
            </a:pPr>
            <a:r>
              <a:rPr lang="en-US" sz="1250" b="1" dirty="0">
                <a:solidFill>
                  <a:srgbClr val="993C1D"/>
                </a:solidFill>
                <a:latin typeface="Calibri" pitchFamily="34" charset="0"/>
                <a:ea typeface="Calibri" pitchFamily="34" charset="-122"/>
                <a:cs typeface="Calibri" pitchFamily="34" charset="-120"/>
              </a:rPr>
              <a:t>90% never reviewed</a:t>
            </a:r>
            <a:endParaRPr lang="en-US" sz="1250" dirty="0"/>
          </a:p>
        </p:txBody>
      </p:sp>
      <p:sp>
        <p:nvSpPr>
          <p:cNvPr id="20" name="Text 18"/>
          <p:cNvSpPr txBox="1"/>
          <p:nvPr/>
        </p:nvSpPr>
        <p:spPr>
          <a:xfrm>
            <a:off x="7424928" y="2267712"/>
            <a:ext cx="1792224" cy="603504"/>
          </a:xfrm>
          <a:prstGeom prst="rect">
            <a:avLst/>
          </a:prstGeom>
          <a:noFill/>
          <a:ln/>
        </p:spPr>
        <p:txBody>
          <a:bodyPr wrap="square" lIns="0" tIns="0" rIns="0" bIns="0" rtlCol="0" anchor="ctr"/>
          <a:lstStyle/>
          <a:p>
            <a:pPr marL="0" indent="0">
              <a:buNone/>
            </a:pPr>
            <a:r>
              <a:rPr lang="en-US" sz="950" dirty="0">
                <a:solidFill>
                  <a:srgbClr val="993C1D"/>
                </a:solidFill>
                <a:latin typeface="Calibri" pitchFamily="34" charset="0"/>
                <a:ea typeface="Calibri" pitchFamily="34" charset="-122"/>
                <a:cs typeface="Calibri" pitchFamily="34" charset="-120"/>
              </a:rPr>
              <a:t>Deviations sit undetected in the remaining records for months</a:t>
            </a:r>
            <a:endParaRPr lang="en-US" sz="950" dirty="0"/>
          </a:p>
        </p:txBody>
      </p:sp>
      <p:sp>
        <p:nvSpPr>
          <p:cNvPr id="21" name="Shape 19"/>
          <p:cNvSpPr/>
          <p:nvPr/>
        </p:nvSpPr>
        <p:spPr>
          <a:xfrm>
            <a:off x="9363456" y="2322576"/>
            <a:ext cx="164592" cy="0"/>
          </a:xfrm>
          <a:prstGeom prst="line">
            <a:avLst/>
          </a:prstGeom>
          <a:noFill/>
          <a:ln w="12700">
            <a:solidFill>
              <a:srgbClr val="888780"/>
            </a:solidFill>
            <a:prstDash val="solid"/>
            <a:tailEnd type="triangle"/>
          </a:ln>
        </p:spPr>
      </p:sp>
      <p:sp>
        <p:nvSpPr>
          <p:cNvPr id="22" name="Shape 20"/>
          <p:cNvSpPr/>
          <p:nvPr/>
        </p:nvSpPr>
        <p:spPr>
          <a:xfrm>
            <a:off x="9546336" y="1719072"/>
            <a:ext cx="2048256" cy="1207008"/>
          </a:xfrm>
          <a:prstGeom prst="roundRect">
            <a:avLst>
              <a:gd name="adj" fmla="val 5303"/>
            </a:avLst>
          </a:prstGeom>
          <a:solidFill>
            <a:srgbClr val="FAECE7"/>
          </a:solidFill>
          <a:ln w="9525">
            <a:solidFill>
              <a:srgbClr val="D85A30"/>
            </a:solidFill>
            <a:prstDash val="solid"/>
          </a:ln>
        </p:spPr>
      </p:sp>
      <p:sp>
        <p:nvSpPr>
          <p:cNvPr id="23" name="Text 21"/>
          <p:cNvSpPr txBox="1"/>
          <p:nvPr/>
        </p:nvSpPr>
        <p:spPr>
          <a:xfrm>
            <a:off x="9674352" y="1828800"/>
            <a:ext cx="1792224" cy="420624"/>
          </a:xfrm>
          <a:prstGeom prst="rect">
            <a:avLst/>
          </a:prstGeom>
          <a:noFill/>
          <a:ln/>
        </p:spPr>
        <p:txBody>
          <a:bodyPr wrap="square" lIns="0" tIns="0" rIns="0" bIns="0" rtlCol="0" anchor="ctr"/>
          <a:lstStyle/>
          <a:p>
            <a:pPr marL="0" indent="0">
              <a:buNone/>
            </a:pPr>
            <a:r>
              <a:rPr lang="en-US" sz="1250" b="1" dirty="0">
                <a:solidFill>
                  <a:srgbClr val="993C1D"/>
                </a:solidFill>
                <a:latin typeface="Calibri" pitchFamily="34" charset="0"/>
                <a:ea typeface="Calibri" pitchFamily="34" charset="-122"/>
                <a:cs typeface="Calibri" pitchFamily="34" charset="-120"/>
              </a:rPr>
              <a:t>FDA audit</a:t>
            </a:r>
            <a:endParaRPr lang="en-US" sz="1250" dirty="0"/>
          </a:p>
        </p:txBody>
      </p:sp>
      <p:sp>
        <p:nvSpPr>
          <p:cNvPr id="24" name="Text 22"/>
          <p:cNvSpPr txBox="1"/>
          <p:nvPr/>
        </p:nvSpPr>
        <p:spPr>
          <a:xfrm>
            <a:off x="9674352" y="2267712"/>
            <a:ext cx="1792224" cy="603504"/>
          </a:xfrm>
          <a:prstGeom prst="rect">
            <a:avLst/>
          </a:prstGeom>
          <a:noFill/>
          <a:ln/>
        </p:spPr>
        <p:txBody>
          <a:bodyPr wrap="square" lIns="0" tIns="0" rIns="0" bIns="0" rtlCol="0" anchor="ctr"/>
          <a:lstStyle/>
          <a:p>
            <a:pPr marL="0" indent="0">
              <a:buNone/>
            </a:pPr>
            <a:r>
              <a:rPr lang="en-US" sz="950" dirty="0">
                <a:solidFill>
                  <a:srgbClr val="993C1D"/>
                </a:solidFill>
                <a:latin typeface="Calibri" pitchFamily="34" charset="0"/>
                <a:ea typeface="Calibri" pitchFamily="34" charset="-122"/>
                <a:cs typeface="Calibri" pitchFamily="34" charset="-120"/>
              </a:rPr>
              <a:t>The regulator finds the systemic pattern first. Submission rejected</a:t>
            </a:r>
            <a:endParaRPr lang="en-US" sz="950" dirty="0"/>
          </a:p>
        </p:txBody>
      </p:sp>
      <p:sp>
        <p:nvSpPr>
          <p:cNvPr id="25" name="Shape 23"/>
          <p:cNvSpPr/>
          <p:nvPr/>
        </p:nvSpPr>
        <p:spPr>
          <a:xfrm>
            <a:off x="548640" y="3154680"/>
            <a:ext cx="2048256" cy="1170432"/>
          </a:xfrm>
          <a:prstGeom prst="roundRect">
            <a:avLst>
              <a:gd name="adj" fmla="val 5469"/>
            </a:avLst>
          </a:prstGeom>
          <a:solidFill>
            <a:srgbClr val="E1F5EE"/>
          </a:solidFill>
          <a:ln w="9525">
            <a:solidFill>
              <a:srgbClr val="1D9E75"/>
            </a:solidFill>
            <a:prstDash val="solid"/>
          </a:ln>
        </p:spPr>
      </p:sp>
      <p:sp>
        <p:nvSpPr>
          <p:cNvPr id="26" name="Text 24"/>
          <p:cNvSpPr txBox="1"/>
          <p:nvPr/>
        </p:nvSpPr>
        <p:spPr>
          <a:xfrm>
            <a:off x="640080" y="3291840"/>
            <a:ext cx="1865376" cy="475488"/>
          </a:xfrm>
          <a:prstGeom prst="rect">
            <a:avLst/>
          </a:prstGeom>
          <a:noFill/>
          <a:ln/>
        </p:spPr>
        <p:txBody>
          <a:bodyPr wrap="square" lIns="0" tIns="0" rIns="0" bIns="0" rtlCol="0" anchor="ctr"/>
          <a:lstStyle/>
          <a:p>
            <a:pPr marL="0" indent="0" algn="ctr">
              <a:buNone/>
            </a:pPr>
            <a:r>
              <a:rPr lang="en-US" sz="2600" b="1" dirty="0">
                <a:solidFill>
                  <a:srgbClr val="0F6E56"/>
                </a:solidFill>
                <a:latin typeface="Cambria" pitchFamily="34" charset="0"/>
                <a:ea typeface="Cambria" pitchFamily="34" charset="-122"/>
                <a:cs typeface="Cambria" pitchFamily="34" charset="-120"/>
              </a:rPr>
              <a:t>200+</a:t>
            </a:r>
            <a:endParaRPr lang="en-US" sz="2600" dirty="0"/>
          </a:p>
        </p:txBody>
      </p:sp>
      <p:sp>
        <p:nvSpPr>
          <p:cNvPr id="27" name="Text 25"/>
          <p:cNvSpPr txBox="1"/>
          <p:nvPr/>
        </p:nvSpPr>
        <p:spPr>
          <a:xfrm>
            <a:off x="640080" y="3803904"/>
            <a:ext cx="1865376" cy="457200"/>
          </a:xfrm>
          <a:prstGeom prst="rect">
            <a:avLst/>
          </a:prstGeom>
          <a:noFill/>
          <a:ln/>
        </p:spPr>
        <p:txBody>
          <a:bodyPr wrap="square" lIns="0" tIns="0" rIns="0" bIns="0" rtlCol="0" anchor="ctr"/>
          <a:lstStyle/>
          <a:p>
            <a:pPr marL="0" indent="0" algn="ctr">
              <a:buNone/>
            </a:pPr>
            <a:r>
              <a:rPr lang="en-US" sz="1000" dirty="0">
                <a:solidFill>
                  <a:srgbClr val="5F5E5A"/>
                </a:solidFill>
                <a:latin typeface="Calibri" pitchFamily="34" charset="0"/>
                <a:ea typeface="Calibri" pitchFamily="34" charset="-122"/>
                <a:cs typeface="Calibri" pitchFamily="34" charset="-120"/>
              </a:rPr>
              <a:t>sites per Phase III trial</a:t>
            </a:r>
            <a:endParaRPr lang="en-US" sz="1000" dirty="0"/>
          </a:p>
        </p:txBody>
      </p:sp>
      <p:sp>
        <p:nvSpPr>
          <p:cNvPr id="28" name="Shape 26"/>
          <p:cNvSpPr/>
          <p:nvPr/>
        </p:nvSpPr>
        <p:spPr>
          <a:xfrm>
            <a:off x="2798064" y="3154680"/>
            <a:ext cx="2048256" cy="1170432"/>
          </a:xfrm>
          <a:prstGeom prst="roundRect">
            <a:avLst>
              <a:gd name="adj" fmla="val 5469"/>
            </a:avLst>
          </a:prstGeom>
          <a:solidFill>
            <a:srgbClr val="E1F5EE"/>
          </a:solidFill>
          <a:ln w="9525">
            <a:solidFill>
              <a:srgbClr val="1D9E75"/>
            </a:solidFill>
            <a:prstDash val="solid"/>
          </a:ln>
        </p:spPr>
      </p:sp>
      <p:sp>
        <p:nvSpPr>
          <p:cNvPr id="29" name="Text 27"/>
          <p:cNvSpPr txBox="1"/>
          <p:nvPr/>
        </p:nvSpPr>
        <p:spPr>
          <a:xfrm>
            <a:off x="2889504" y="3291840"/>
            <a:ext cx="1865376" cy="475488"/>
          </a:xfrm>
          <a:prstGeom prst="rect">
            <a:avLst/>
          </a:prstGeom>
          <a:noFill/>
          <a:ln/>
        </p:spPr>
        <p:txBody>
          <a:bodyPr wrap="square" lIns="0" tIns="0" rIns="0" bIns="0" rtlCol="0" anchor="ctr"/>
          <a:lstStyle/>
          <a:p>
            <a:pPr marL="0" indent="0" algn="ctr">
              <a:buNone/>
            </a:pPr>
            <a:r>
              <a:rPr lang="en-US" sz="2600" b="1" dirty="0">
                <a:solidFill>
                  <a:srgbClr val="0F6E56"/>
                </a:solidFill>
                <a:latin typeface="Cambria" pitchFamily="34" charset="0"/>
                <a:ea typeface="Cambria" pitchFamily="34" charset="-122"/>
                <a:cs typeface="Cambria" pitchFamily="34" charset="-120"/>
              </a:rPr>
              <a:t>5,000+</a:t>
            </a:r>
            <a:endParaRPr lang="en-US" sz="2600" dirty="0"/>
          </a:p>
        </p:txBody>
      </p:sp>
      <p:sp>
        <p:nvSpPr>
          <p:cNvPr id="30" name="Text 28"/>
          <p:cNvSpPr txBox="1"/>
          <p:nvPr/>
        </p:nvSpPr>
        <p:spPr>
          <a:xfrm>
            <a:off x="2889504" y="3803904"/>
            <a:ext cx="1865376" cy="457200"/>
          </a:xfrm>
          <a:prstGeom prst="rect">
            <a:avLst/>
          </a:prstGeom>
          <a:noFill/>
          <a:ln/>
        </p:spPr>
        <p:txBody>
          <a:bodyPr wrap="square" lIns="0" tIns="0" rIns="0" bIns="0" rtlCol="0" anchor="ctr"/>
          <a:lstStyle/>
          <a:p>
            <a:pPr marL="0" indent="0" algn="ctr">
              <a:buNone/>
            </a:pPr>
            <a:r>
              <a:rPr lang="en-US" sz="1000" dirty="0">
                <a:solidFill>
                  <a:srgbClr val="5F5E5A"/>
                </a:solidFill>
                <a:latin typeface="Calibri" pitchFamily="34" charset="0"/>
                <a:ea typeface="Calibri" pitchFamily="34" charset="-122"/>
                <a:cs typeface="Calibri" pitchFamily="34" charset="-120"/>
              </a:rPr>
              <a:t>visits bound by the protocol</a:t>
            </a:r>
            <a:endParaRPr lang="en-US" sz="1000" dirty="0"/>
          </a:p>
        </p:txBody>
      </p:sp>
      <p:sp>
        <p:nvSpPr>
          <p:cNvPr id="31" name="Shape 29"/>
          <p:cNvSpPr/>
          <p:nvPr/>
        </p:nvSpPr>
        <p:spPr>
          <a:xfrm>
            <a:off x="5047488" y="3154680"/>
            <a:ext cx="2048256" cy="1170432"/>
          </a:xfrm>
          <a:prstGeom prst="roundRect">
            <a:avLst>
              <a:gd name="adj" fmla="val 5469"/>
            </a:avLst>
          </a:prstGeom>
          <a:solidFill>
            <a:srgbClr val="FAECE7"/>
          </a:solidFill>
          <a:ln w="9525">
            <a:solidFill>
              <a:srgbClr val="D85A30"/>
            </a:solidFill>
            <a:prstDash val="solid"/>
          </a:ln>
        </p:spPr>
      </p:sp>
      <p:sp>
        <p:nvSpPr>
          <p:cNvPr id="32" name="Text 30"/>
          <p:cNvSpPr txBox="1"/>
          <p:nvPr/>
        </p:nvSpPr>
        <p:spPr>
          <a:xfrm>
            <a:off x="5138928" y="3291840"/>
            <a:ext cx="1865376" cy="475488"/>
          </a:xfrm>
          <a:prstGeom prst="rect">
            <a:avLst/>
          </a:prstGeom>
          <a:noFill/>
          <a:ln/>
        </p:spPr>
        <p:txBody>
          <a:bodyPr wrap="square" lIns="0" tIns="0" rIns="0" bIns="0" rtlCol="0" anchor="ctr"/>
          <a:lstStyle/>
          <a:p>
            <a:pPr marL="0" indent="0" algn="ctr">
              <a:buNone/>
            </a:pPr>
            <a:r>
              <a:rPr lang="en-US" sz="2600" b="1" dirty="0">
                <a:solidFill>
                  <a:srgbClr val="993C1D"/>
                </a:solidFill>
                <a:latin typeface="Cambria" pitchFamily="34" charset="0"/>
                <a:ea typeface="Cambria" pitchFamily="34" charset="-122"/>
                <a:cs typeface="Cambria" pitchFamily="34" charset="-120"/>
              </a:rPr>
              <a:t>90%</a:t>
            </a:r>
            <a:endParaRPr lang="en-US" sz="2600" dirty="0"/>
          </a:p>
        </p:txBody>
      </p:sp>
      <p:sp>
        <p:nvSpPr>
          <p:cNvPr id="33" name="Text 31"/>
          <p:cNvSpPr txBox="1"/>
          <p:nvPr/>
        </p:nvSpPr>
        <p:spPr>
          <a:xfrm>
            <a:off x="5138928" y="3803904"/>
            <a:ext cx="1865376" cy="457200"/>
          </a:xfrm>
          <a:prstGeom prst="rect">
            <a:avLst/>
          </a:prstGeom>
          <a:noFill/>
          <a:ln/>
        </p:spPr>
        <p:txBody>
          <a:bodyPr wrap="square" lIns="0" tIns="0" rIns="0" bIns="0" rtlCol="0" anchor="ctr"/>
          <a:lstStyle/>
          <a:p>
            <a:pPr marL="0" indent="0" algn="ctr">
              <a:buNone/>
            </a:pPr>
            <a:r>
              <a:rPr lang="en-US" sz="1000" dirty="0">
                <a:solidFill>
                  <a:srgbClr val="5F5E5A"/>
                </a:solidFill>
                <a:latin typeface="Calibri" pitchFamily="34" charset="0"/>
                <a:ea typeface="Calibri" pitchFamily="34" charset="-122"/>
                <a:cs typeface="Calibri" pitchFamily="34" charset="-120"/>
              </a:rPr>
              <a:t>of records never reviewed</a:t>
            </a:r>
            <a:endParaRPr lang="en-US" sz="1000" dirty="0"/>
          </a:p>
        </p:txBody>
      </p:sp>
      <p:sp>
        <p:nvSpPr>
          <p:cNvPr id="34" name="Shape 32"/>
          <p:cNvSpPr/>
          <p:nvPr/>
        </p:nvSpPr>
        <p:spPr>
          <a:xfrm>
            <a:off x="7296912" y="3154680"/>
            <a:ext cx="2048256" cy="1170432"/>
          </a:xfrm>
          <a:prstGeom prst="roundRect">
            <a:avLst>
              <a:gd name="adj" fmla="val 5469"/>
            </a:avLst>
          </a:prstGeom>
          <a:solidFill>
            <a:srgbClr val="FAECE7"/>
          </a:solidFill>
          <a:ln w="9525">
            <a:solidFill>
              <a:srgbClr val="D85A30"/>
            </a:solidFill>
            <a:prstDash val="solid"/>
          </a:ln>
        </p:spPr>
      </p:sp>
      <p:sp>
        <p:nvSpPr>
          <p:cNvPr id="35" name="Text 33"/>
          <p:cNvSpPr txBox="1"/>
          <p:nvPr/>
        </p:nvSpPr>
        <p:spPr>
          <a:xfrm>
            <a:off x="7388352" y="3291840"/>
            <a:ext cx="1865376" cy="475488"/>
          </a:xfrm>
          <a:prstGeom prst="rect">
            <a:avLst/>
          </a:prstGeom>
          <a:noFill/>
          <a:ln/>
        </p:spPr>
        <p:txBody>
          <a:bodyPr wrap="square" lIns="0" tIns="0" rIns="0" bIns="0" rtlCol="0" anchor="ctr"/>
          <a:lstStyle/>
          <a:p>
            <a:pPr marL="0" indent="0" algn="ctr">
              <a:buNone/>
            </a:pPr>
            <a:r>
              <a:rPr lang="en-US" sz="2600" b="1" dirty="0">
                <a:solidFill>
                  <a:srgbClr val="993C1D"/>
                </a:solidFill>
                <a:latin typeface="Cambria" pitchFamily="34" charset="0"/>
                <a:ea typeface="Cambria" pitchFamily="34" charset="-122"/>
                <a:cs typeface="Cambria" pitchFamily="34" charset="-120"/>
              </a:rPr>
              <a:t>6–12</a:t>
            </a:r>
            <a:endParaRPr lang="en-US" sz="2600" dirty="0"/>
          </a:p>
        </p:txBody>
      </p:sp>
      <p:sp>
        <p:nvSpPr>
          <p:cNvPr id="36" name="Text 34"/>
          <p:cNvSpPr txBox="1"/>
          <p:nvPr/>
        </p:nvSpPr>
        <p:spPr>
          <a:xfrm>
            <a:off x="7388352" y="3803904"/>
            <a:ext cx="1865376" cy="457200"/>
          </a:xfrm>
          <a:prstGeom prst="rect">
            <a:avLst/>
          </a:prstGeom>
          <a:noFill/>
          <a:ln/>
        </p:spPr>
        <p:txBody>
          <a:bodyPr wrap="square" lIns="0" tIns="0" rIns="0" bIns="0" rtlCol="0" anchor="ctr"/>
          <a:lstStyle/>
          <a:p>
            <a:pPr marL="0" indent="0" algn="ctr">
              <a:buNone/>
            </a:pPr>
            <a:r>
              <a:rPr lang="en-US" sz="1000" dirty="0">
                <a:solidFill>
                  <a:srgbClr val="5F5E5A"/>
                </a:solidFill>
                <a:latin typeface="Calibri" pitchFamily="34" charset="0"/>
                <a:ea typeface="Calibri" pitchFamily="34" charset="-122"/>
                <a:cs typeface="Calibri" pitchFamily="34" charset="-120"/>
              </a:rPr>
              <a:t>months of approval delay</a:t>
            </a:r>
            <a:endParaRPr lang="en-US" sz="1000" dirty="0"/>
          </a:p>
        </p:txBody>
      </p:sp>
      <p:sp>
        <p:nvSpPr>
          <p:cNvPr id="37" name="Shape 35"/>
          <p:cNvSpPr/>
          <p:nvPr/>
        </p:nvSpPr>
        <p:spPr>
          <a:xfrm>
            <a:off x="9546336" y="3154680"/>
            <a:ext cx="2048256" cy="1170432"/>
          </a:xfrm>
          <a:prstGeom prst="roundRect">
            <a:avLst>
              <a:gd name="adj" fmla="val 5469"/>
            </a:avLst>
          </a:prstGeom>
          <a:solidFill>
            <a:srgbClr val="FAECE7"/>
          </a:solidFill>
          <a:ln w="9525">
            <a:solidFill>
              <a:srgbClr val="D85A30"/>
            </a:solidFill>
            <a:prstDash val="solid"/>
          </a:ln>
        </p:spPr>
      </p:sp>
      <p:sp>
        <p:nvSpPr>
          <p:cNvPr id="38" name="Text 36"/>
          <p:cNvSpPr txBox="1"/>
          <p:nvPr/>
        </p:nvSpPr>
        <p:spPr>
          <a:xfrm>
            <a:off x="9637776" y="3291840"/>
            <a:ext cx="1865376" cy="475488"/>
          </a:xfrm>
          <a:prstGeom prst="rect">
            <a:avLst/>
          </a:prstGeom>
          <a:noFill/>
          <a:ln/>
        </p:spPr>
        <p:txBody>
          <a:bodyPr wrap="square" lIns="0" tIns="0" rIns="0" bIns="0" rtlCol="0" anchor="ctr"/>
          <a:lstStyle/>
          <a:p>
            <a:pPr marL="0" indent="0" algn="ctr">
              <a:buNone/>
            </a:pPr>
            <a:r>
              <a:rPr lang="en-US" sz="2600" b="1" dirty="0">
                <a:solidFill>
                  <a:srgbClr val="993C1D"/>
                </a:solidFill>
                <a:latin typeface="Cambria" pitchFamily="34" charset="0"/>
                <a:ea typeface="Cambria" pitchFamily="34" charset="-122"/>
                <a:cs typeface="Cambria" pitchFamily="34" charset="-120"/>
              </a:rPr>
              <a:t>$50–100M</a:t>
            </a:r>
            <a:endParaRPr lang="en-US" sz="2600" dirty="0"/>
          </a:p>
        </p:txBody>
      </p:sp>
      <p:sp>
        <p:nvSpPr>
          <p:cNvPr id="39" name="Text 37"/>
          <p:cNvSpPr txBox="1"/>
          <p:nvPr/>
        </p:nvSpPr>
        <p:spPr>
          <a:xfrm>
            <a:off x="9637776" y="3803904"/>
            <a:ext cx="1865376" cy="457200"/>
          </a:xfrm>
          <a:prstGeom prst="rect">
            <a:avLst/>
          </a:prstGeom>
          <a:noFill/>
          <a:ln/>
        </p:spPr>
        <p:txBody>
          <a:bodyPr wrap="square" lIns="0" tIns="0" rIns="0" bIns="0" rtlCol="0" anchor="ctr"/>
          <a:lstStyle/>
          <a:p>
            <a:pPr marL="0" indent="0" algn="ctr">
              <a:buNone/>
            </a:pPr>
            <a:r>
              <a:rPr lang="en-US" sz="1000" dirty="0">
                <a:solidFill>
                  <a:srgbClr val="5F5E5A"/>
                </a:solidFill>
                <a:latin typeface="Calibri" pitchFamily="34" charset="0"/>
                <a:ea typeface="Calibri" pitchFamily="34" charset="-122"/>
                <a:cs typeface="Calibri" pitchFamily="34" charset="-120"/>
              </a:rPr>
              <a:t>lost per rejected submission</a:t>
            </a:r>
            <a:endParaRPr lang="en-US" sz="1000" dirty="0"/>
          </a:p>
        </p:txBody>
      </p:sp>
      <p:sp>
        <p:nvSpPr>
          <p:cNvPr id="40" name="Shape 38"/>
          <p:cNvSpPr/>
          <p:nvPr/>
        </p:nvSpPr>
        <p:spPr>
          <a:xfrm>
            <a:off x="548640" y="4553712"/>
            <a:ext cx="6858000" cy="1298448"/>
          </a:xfrm>
          <a:prstGeom prst="roundRect">
            <a:avLst>
              <a:gd name="adj" fmla="val 4930"/>
            </a:avLst>
          </a:prstGeom>
          <a:solidFill>
            <a:srgbClr val="FFFFFF"/>
          </a:solidFill>
          <a:ln w="9525">
            <a:solidFill>
              <a:srgbClr val="D3D1C7"/>
            </a:solidFill>
            <a:prstDash val="solid"/>
          </a:ln>
        </p:spPr>
      </p:sp>
      <p:sp>
        <p:nvSpPr>
          <p:cNvPr id="41" name="Text 39"/>
          <p:cNvSpPr txBox="1"/>
          <p:nvPr/>
        </p:nvSpPr>
        <p:spPr>
          <a:xfrm>
            <a:off x="777240" y="4672584"/>
            <a:ext cx="6400800" cy="256032"/>
          </a:xfrm>
          <a:prstGeom prst="rect">
            <a:avLst/>
          </a:prstGeom>
          <a:noFill/>
          <a:ln/>
        </p:spPr>
        <p:txBody>
          <a:bodyPr wrap="square" lIns="0" tIns="0" rIns="0" bIns="0" rtlCol="0" anchor="ctr"/>
          <a:lstStyle/>
          <a:p>
            <a:pPr marL="0" indent="0">
              <a:buNone/>
            </a:pPr>
            <a:r>
              <a:rPr lang="en-US" sz="1250" b="1" dirty="0">
                <a:solidFill>
                  <a:srgbClr val="2C2C2A"/>
                </a:solidFill>
                <a:latin typeface="Calibri" pitchFamily="34" charset="0"/>
                <a:ea typeface="Calibri" pitchFamily="34" charset="-122"/>
                <a:cs typeface="Calibri" pitchFamily="34" charset="-120"/>
              </a:rPr>
              <a:t>Why humans cannot close this gap</a:t>
            </a:r>
            <a:endParaRPr lang="en-US" sz="1250" dirty="0"/>
          </a:p>
        </p:txBody>
      </p:sp>
      <p:sp>
        <p:nvSpPr>
          <p:cNvPr id="42" name="Text 40"/>
          <p:cNvSpPr txBox="1"/>
          <p:nvPr/>
        </p:nvSpPr>
        <p:spPr>
          <a:xfrm>
            <a:off x="777240" y="4956048"/>
            <a:ext cx="6400800" cy="868680"/>
          </a:xfrm>
          <a:prstGeom prst="rect">
            <a:avLst/>
          </a:prstGeom>
          <a:noFill/>
          <a:ln/>
        </p:spPr>
        <p:txBody>
          <a:bodyPr wrap="square" lIns="0" tIns="0" rIns="0" bIns="0" rtlCol="0" anchor="ctr"/>
          <a:lstStyle/>
          <a:p>
            <a:pPr marL="342900" indent="-342900">
              <a:lnSpc>
                <a:spcPct val="102000"/>
              </a:lnSpc>
              <a:spcAft>
                <a:spcPts val="400"/>
              </a:spcAft>
              <a:buSzPct val="100000"/>
              <a:buChar char="•"/>
            </a:pPr>
            <a:r>
              <a:rPr lang="en-US" sz="1050" dirty="0">
                <a:solidFill>
                  <a:srgbClr val="2C2C2A"/>
                </a:solidFill>
                <a:latin typeface="Calibri" pitchFamily="34" charset="0"/>
                <a:ea typeface="Calibri" pitchFamily="34" charset="-122"/>
                <a:cs typeface="Calibri" pitchFamily="34" charset="-120"/>
              </a:rPr>
              <a:t>Cross-site patterns are invisible from inside one site — 15 sites making the same dosing error look like 15 unrelated one-offs</a:t>
            </a:r>
            <a:endParaRPr lang="en-US" sz="1050" dirty="0"/>
          </a:p>
          <a:p>
            <a:pPr marL="342900" indent="-342900">
              <a:lnSpc>
                <a:spcPct val="102000"/>
              </a:lnSpc>
              <a:spcAft>
                <a:spcPts val="400"/>
              </a:spcAft>
              <a:buSzPct val="100000"/>
              <a:buChar char="•"/>
            </a:pPr>
            <a:r>
              <a:rPr lang="en-US" sz="1050" dirty="0">
                <a:solidFill>
                  <a:srgbClr val="2C2C2A"/>
                </a:solidFill>
                <a:latin typeface="Calibri" pitchFamily="34" charset="0"/>
                <a:ea typeface="Calibri" pitchFamily="34" charset="-122"/>
                <a:cs typeface="Calibri" pitchFamily="34" charset="-120"/>
              </a:rPr>
              <a:t>Detection is reactive: by the time a deviation surfaces, the patient data is already compromised</a:t>
            </a:r>
            <a:endParaRPr lang="en-US" sz="1050" dirty="0"/>
          </a:p>
          <a:p>
            <a:pPr marL="342900" indent="-342900">
              <a:lnSpc>
                <a:spcPct val="102000"/>
              </a:lnSpc>
              <a:spcAft>
                <a:spcPts val="400"/>
              </a:spcAft>
              <a:buSzPct val="100000"/>
              <a:buChar char="•"/>
            </a:pPr>
            <a:r>
              <a:rPr lang="en-US" sz="1050" dirty="0">
                <a:solidFill>
                  <a:srgbClr val="2C2C2A"/>
                </a:solidFill>
                <a:latin typeface="Calibri" pitchFamily="34" charset="0"/>
                <a:ea typeface="Calibri" pitchFamily="34" charset="-122"/>
                <a:cs typeface="Calibri" pitchFamily="34" charset="-120"/>
              </a:rPr>
              <a:t>A full trial audit takes weeks, so it happens rarely rather than continuously</a:t>
            </a:r>
            <a:endParaRPr lang="en-US" sz="1050" dirty="0"/>
          </a:p>
        </p:txBody>
      </p:sp>
      <p:sp>
        <p:nvSpPr>
          <p:cNvPr id="43" name="Shape 41"/>
          <p:cNvSpPr/>
          <p:nvPr/>
        </p:nvSpPr>
        <p:spPr>
          <a:xfrm>
            <a:off x="7635240" y="4553712"/>
            <a:ext cx="4005072" cy="1298448"/>
          </a:xfrm>
          <a:prstGeom prst="roundRect">
            <a:avLst>
              <a:gd name="adj" fmla="val 4930"/>
            </a:avLst>
          </a:prstGeom>
          <a:solidFill>
            <a:srgbClr val="FAECE7"/>
          </a:solidFill>
          <a:ln w="9525">
            <a:solidFill>
              <a:srgbClr val="D85A30"/>
            </a:solidFill>
            <a:prstDash val="solid"/>
          </a:ln>
        </p:spPr>
      </p:sp>
      <p:sp>
        <p:nvSpPr>
          <p:cNvPr id="44" name="Text 42"/>
          <p:cNvSpPr txBox="1"/>
          <p:nvPr/>
        </p:nvSpPr>
        <p:spPr>
          <a:xfrm>
            <a:off x="7882128" y="4718304"/>
            <a:ext cx="3529584" cy="1005840"/>
          </a:xfrm>
          <a:prstGeom prst="rect">
            <a:avLst/>
          </a:prstGeom>
          <a:noFill/>
          <a:ln/>
        </p:spPr>
        <p:txBody>
          <a:bodyPr wrap="square" lIns="0" tIns="0" rIns="0" bIns="0" rtlCol="0" anchor="ctr"/>
          <a:lstStyle/>
          <a:p>
            <a:pPr marL="0" indent="0">
              <a:buNone/>
            </a:pPr>
            <a:r>
              <a:rPr lang="en-US" sz="1250" i="1" dirty="0">
                <a:solidFill>
                  <a:srgbClr val="993C1D"/>
                </a:solidFill>
                <a:latin typeface="Cambria" pitchFamily="34" charset="0"/>
                <a:ea typeface="Cambria" pitchFamily="34" charset="-122"/>
                <a:cs typeface="Cambria" pitchFamily="34" charset="-120"/>
              </a:rPr>
              <a:t>There is no automated, real-time system that monitors every visit across every site, detects violations as they happen, and says which sites are failing.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SOLUTION</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What we built: TrialGuard AI</a:t>
            </a:r>
            <a:endParaRPr lang="en-US" sz="3100" dirty="0"/>
          </a:p>
        </p:txBody>
      </p:sp>
      <p:sp>
        <p:nvSpPr>
          <p:cNvPr id="4" name="Text 2"/>
          <p:cNvSpPr txBox="1"/>
          <p:nvPr/>
        </p:nvSpPr>
        <p:spPr>
          <a:xfrm>
            <a:off x="548640" y="1024128"/>
            <a:ext cx="11064240" cy="274320"/>
          </a:xfrm>
          <a:prstGeom prst="rect">
            <a:avLst/>
          </a:prstGeom>
          <a:noFill/>
          <a:ln/>
        </p:spPr>
        <p:txBody>
          <a:bodyPr wrap="square" lIns="0" tIns="0" rIns="0" bIns="0" rtlCol="0" anchor="ctr"/>
          <a:lstStyle/>
          <a:p>
            <a:pPr marL="0" indent="0">
              <a:buNone/>
            </a:pPr>
            <a:r>
              <a:rPr lang="en-US" sz="1400" dirty="0">
                <a:solidFill>
                  <a:srgbClr val="5F5E5A"/>
                </a:solidFill>
                <a:latin typeface="Calibri" pitchFamily="34" charset="0"/>
                <a:ea typeface="Calibri" pitchFamily="34" charset="-122"/>
                <a:cs typeface="Calibri" pitchFamily="34" charset="-120"/>
              </a:rPr>
              <a:t>An automated detection engine that monitors 100% of patient visits, 100% of the time — no sampling, no site visit required.</a:t>
            </a:r>
            <a:endParaRPr lang="en-US" sz="1400" dirty="0"/>
          </a:p>
        </p:txBody>
      </p:sp>
      <p:sp>
        <p:nvSpPr>
          <p:cNvPr id="5" name="Shape 3"/>
          <p:cNvSpPr/>
          <p:nvPr/>
        </p:nvSpPr>
        <p:spPr>
          <a:xfrm>
            <a:off x="548640" y="1554480"/>
            <a:ext cx="5376672" cy="2011680"/>
          </a:xfrm>
          <a:prstGeom prst="roundRect">
            <a:avLst>
              <a:gd name="adj" fmla="val 3182"/>
            </a:avLst>
          </a:prstGeom>
          <a:solidFill>
            <a:srgbClr val="E1F5EE"/>
          </a:solidFill>
          <a:ln w="9525">
            <a:solidFill>
              <a:srgbClr val="1D9E75"/>
            </a:solidFill>
            <a:prstDash val="solid"/>
          </a:ln>
        </p:spPr>
      </p:sp>
      <p:sp>
        <p:nvSpPr>
          <p:cNvPr id="6" name="Shape 4"/>
          <p:cNvSpPr/>
          <p:nvPr/>
        </p:nvSpPr>
        <p:spPr>
          <a:xfrm>
            <a:off x="804672" y="1792224"/>
            <a:ext cx="475488" cy="475488"/>
          </a:xfrm>
          <a:prstGeom prst="ellipse">
            <a:avLst/>
          </a:prstGeom>
          <a:solidFill>
            <a:srgbClr val="FFFFFF"/>
          </a:solidFill>
          <a:ln w="12700">
            <a:solidFill>
              <a:srgbClr val="1D9E75"/>
            </a:solidFill>
            <a:prstDash val="solid"/>
          </a:ln>
        </p:spPr>
      </p:sp>
      <p:sp>
        <p:nvSpPr>
          <p:cNvPr id="7" name="Text 5"/>
          <p:cNvSpPr txBox="1"/>
          <p:nvPr/>
        </p:nvSpPr>
        <p:spPr>
          <a:xfrm>
            <a:off x="804672" y="1901952"/>
            <a:ext cx="475488" cy="256032"/>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01</a:t>
            </a:r>
            <a:endParaRPr lang="en-US" sz="1250" dirty="0"/>
          </a:p>
        </p:txBody>
      </p:sp>
      <p:sp>
        <p:nvSpPr>
          <p:cNvPr id="8" name="Text 6"/>
          <p:cNvSpPr txBox="1"/>
          <p:nvPr/>
        </p:nvSpPr>
        <p:spPr>
          <a:xfrm>
            <a:off x="1444752" y="1837944"/>
            <a:ext cx="4224528" cy="347472"/>
          </a:xfrm>
          <a:prstGeom prst="rect">
            <a:avLst/>
          </a:prstGeom>
          <a:noFill/>
          <a:ln/>
        </p:spPr>
        <p:txBody>
          <a:bodyPr wrap="square" lIns="0" tIns="0" rIns="0" bIns="0" rtlCol="0" anchor="ctr"/>
          <a:lstStyle/>
          <a:p>
            <a:pPr marL="0" indent="0">
              <a:buNone/>
            </a:pPr>
            <a:r>
              <a:rPr lang="en-US" sz="1650" b="1" dirty="0">
                <a:solidFill>
                  <a:srgbClr val="0F6E56"/>
                </a:solidFill>
                <a:latin typeface="Calibri" pitchFamily="34" charset="0"/>
                <a:ea typeface="Calibri" pitchFamily="34" charset="-122"/>
                <a:cs typeface="Calibri" pitchFamily="34" charset="-120"/>
              </a:rPr>
              <a:t>Automatic deviation detection</a:t>
            </a:r>
            <a:endParaRPr lang="en-US" sz="1650" dirty="0"/>
          </a:p>
        </p:txBody>
      </p:sp>
      <p:sp>
        <p:nvSpPr>
          <p:cNvPr id="9" name="Text 7"/>
          <p:cNvSpPr txBox="1"/>
          <p:nvPr/>
        </p:nvSpPr>
        <p:spPr>
          <a:xfrm>
            <a:off x="1444752" y="2304288"/>
            <a:ext cx="4224528" cy="1143000"/>
          </a:xfrm>
          <a:prstGeom prst="rect">
            <a:avLst/>
          </a:prstGeom>
          <a:noFill/>
          <a:ln/>
        </p:spPr>
        <p:txBody>
          <a:bodyPr wrap="square" lIns="0" tIns="0" rIns="0" bIns="0" rtlCol="0" anchor="ctr"/>
          <a:lstStyle/>
          <a:p>
            <a:pPr marL="0" indent="0">
              <a:buNone/>
            </a:pPr>
            <a:r>
              <a:rPr lang="en-US" sz="1150" dirty="0">
                <a:solidFill>
                  <a:srgbClr val="5F5E5A"/>
                </a:solidFill>
                <a:latin typeface="Calibri" pitchFamily="34" charset="0"/>
                <a:ea typeface="Calibri" pitchFamily="34" charset="-122"/>
                <a:cs typeface="Calibri" pitchFamily="34" charset="-120"/>
              </a:rPr>
              <a:t>Every visit record is compared against the protocol rules. Violations are flagged in five categories and auto-classified Major / Minor / Administrative per ICH E6(R2) GCP — the standard the FDA actually audits against.</a:t>
            </a:r>
            <a:endParaRPr lang="en-US" sz="1150" dirty="0"/>
          </a:p>
        </p:txBody>
      </p:sp>
      <p:sp>
        <p:nvSpPr>
          <p:cNvPr id="10" name="Shape 8"/>
          <p:cNvSpPr/>
          <p:nvPr/>
        </p:nvSpPr>
        <p:spPr>
          <a:xfrm>
            <a:off x="6263640" y="1554480"/>
            <a:ext cx="5376672" cy="2011680"/>
          </a:xfrm>
          <a:prstGeom prst="roundRect">
            <a:avLst>
              <a:gd name="adj" fmla="val 3182"/>
            </a:avLst>
          </a:prstGeom>
          <a:solidFill>
            <a:srgbClr val="E1F5EE"/>
          </a:solidFill>
          <a:ln w="9525">
            <a:solidFill>
              <a:srgbClr val="1D9E75"/>
            </a:solidFill>
            <a:prstDash val="solid"/>
          </a:ln>
        </p:spPr>
      </p:sp>
      <p:sp>
        <p:nvSpPr>
          <p:cNvPr id="11" name="Shape 9"/>
          <p:cNvSpPr/>
          <p:nvPr/>
        </p:nvSpPr>
        <p:spPr>
          <a:xfrm>
            <a:off x="6519672" y="1792224"/>
            <a:ext cx="475488" cy="475488"/>
          </a:xfrm>
          <a:prstGeom prst="ellipse">
            <a:avLst/>
          </a:prstGeom>
          <a:solidFill>
            <a:srgbClr val="FFFFFF"/>
          </a:solidFill>
          <a:ln w="12700">
            <a:solidFill>
              <a:srgbClr val="1D9E75"/>
            </a:solidFill>
            <a:prstDash val="solid"/>
          </a:ln>
        </p:spPr>
      </p:sp>
      <p:sp>
        <p:nvSpPr>
          <p:cNvPr id="12" name="Text 10"/>
          <p:cNvSpPr txBox="1"/>
          <p:nvPr/>
        </p:nvSpPr>
        <p:spPr>
          <a:xfrm>
            <a:off x="6519672" y="1901952"/>
            <a:ext cx="475488" cy="256032"/>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02</a:t>
            </a:r>
            <a:endParaRPr lang="en-US" sz="1250" dirty="0"/>
          </a:p>
        </p:txBody>
      </p:sp>
      <p:sp>
        <p:nvSpPr>
          <p:cNvPr id="13" name="Text 11"/>
          <p:cNvSpPr txBox="1"/>
          <p:nvPr/>
        </p:nvSpPr>
        <p:spPr>
          <a:xfrm>
            <a:off x="7159752" y="1837944"/>
            <a:ext cx="4224528" cy="347472"/>
          </a:xfrm>
          <a:prstGeom prst="rect">
            <a:avLst/>
          </a:prstGeom>
          <a:noFill/>
          <a:ln/>
        </p:spPr>
        <p:txBody>
          <a:bodyPr wrap="square" lIns="0" tIns="0" rIns="0" bIns="0" rtlCol="0" anchor="ctr"/>
          <a:lstStyle/>
          <a:p>
            <a:pPr marL="0" indent="0">
              <a:buNone/>
            </a:pPr>
            <a:r>
              <a:rPr lang="en-US" sz="1650" b="1" dirty="0">
                <a:solidFill>
                  <a:srgbClr val="0F6E56"/>
                </a:solidFill>
                <a:latin typeface="Calibri" pitchFamily="34" charset="0"/>
                <a:ea typeface="Calibri" pitchFamily="34" charset="-122"/>
                <a:cs typeface="Calibri" pitchFamily="34" charset="-120"/>
              </a:rPr>
              <a:t>Site risk scoring, 0–100</a:t>
            </a:r>
            <a:endParaRPr lang="en-US" sz="1650" dirty="0"/>
          </a:p>
        </p:txBody>
      </p:sp>
      <p:sp>
        <p:nvSpPr>
          <p:cNvPr id="14" name="Text 12"/>
          <p:cNvSpPr txBox="1"/>
          <p:nvPr/>
        </p:nvSpPr>
        <p:spPr>
          <a:xfrm>
            <a:off x="7159752" y="2304288"/>
            <a:ext cx="4224528" cy="1143000"/>
          </a:xfrm>
          <a:prstGeom prst="rect">
            <a:avLst/>
          </a:prstGeom>
          <a:noFill/>
          <a:ln/>
        </p:spPr>
        <p:txBody>
          <a:bodyPr wrap="square" lIns="0" tIns="0" rIns="0" bIns="0" rtlCol="0" anchor="ctr"/>
          <a:lstStyle/>
          <a:p>
            <a:pPr marL="0" indent="0">
              <a:buNone/>
            </a:pPr>
            <a:r>
              <a:rPr lang="en-US" sz="1150" dirty="0">
                <a:solidFill>
                  <a:srgbClr val="5F5E5A"/>
                </a:solidFill>
                <a:latin typeface="Calibri" pitchFamily="34" charset="0"/>
                <a:ea typeface="Calibri" pitchFamily="34" charset="-122"/>
                <a:cs typeface="Calibri" pitchFamily="34" charset="-120"/>
              </a:rPr>
              <a:t>A weighted composite of deviation count and severity, trend direction, pattern diversity and patient impact. Sites fall into Critical, High, Medium or Low tiers, turning 210 sites into a ranked worklist.</a:t>
            </a:r>
            <a:endParaRPr lang="en-US" sz="1150" dirty="0"/>
          </a:p>
        </p:txBody>
      </p:sp>
      <p:sp>
        <p:nvSpPr>
          <p:cNvPr id="15" name="Shape 13"/>
          <p:cNvSpPr/>
          <p:nvPr/>
        </p:nvSpPr>
        <p:spPr>
          <a:xfrm>
            <a:off x="548640" y="3794760"/>
            <a:ext cx="5376672" cy="2011680"/>
          </a:xfrm>
          <a:prstGeom prst="roundRect">
            <a:avLst>
              <a:gd name="adj" fmla="val 3182"/>
            </a:avLst>
          </a:prstGeom>
          <a:solidFill>
            <a:srgbClr val="EEEDFE"/>
          </a:solidFill>
          <a:ln w="9525">
            <a:solidFill>
              <a:srgbClr val="7F77DD"/>
            </a:solidFill>
            <a:prstDash val="solid"/>
          </a:ln>
        </p:spPr>
      </p:sp>
      <p:sp>
        <p:nvSpPr>
          <p:cNvPr id="16" name="Shape 14"/>
          <p:cNvSpPr/>
          <p:nvPr/>
        </p:nvSpPr>
        <p:spPr>
          <a:xfrm>
            <a:off x="804672" y="4032504"/>
            <a:ext cx="475488" cy="475488"/>
          </a:xfrm>
          <a:prstGeom prst="ellipse">
            <a:avLst/>
          </a:prstGeom>
          <a:solidFill>
            <a:srgbClr val="FFFFFF"/>
          </a:solidFill>
          <a:ln w="12700">
            <a:solidFill>
              <a:srgbClr val="7F77DD"/>
            </a:solidFill>
            <a:prstDash val="solid"/>
          </a:ln>
        </p:spPr>
      </p:sp>
      <p:sp>
        <p:nvSpPr>
          <p:cNvPr id="17" name="Text 15"/>
          <p:cNvSpPr txBox="1"/>
          <p:nvPr/>
        </p:nvSpPr>
        <p:spPr>
          <a:xfrm>
            <a:off x="804672" y="4142232"/>
            <a:ext cx="475488" cy="256032"/>
          </a:xfrm>
          <a:prstGeom prst="rect">
            <a:avLst/>
          </a:prstGeom>
          <a:noFill/>
          <a:ln/>
        </p:spPr>
        <p:txBody>
          <a:bodyPr wrap="square" lIns="0" tIns="0" rIns="0" bIns="0" rtlCol="0" anchor="ctr"/>
          <a:lstStyle/>
          <a:p>
            <a:pPr marL="0" indent="0" algn="ctr">
              <a:buNone/>
            </a:pPr>
            <a:r>
              <a:rPr lang="en-US" sz="1250" b="1" dirty="0">
                <a:solidFill>
                  <a:srgbClr val="534AB7"/>
                </a:solidFill>
                <a:latin typeface="Calibri" pitchFamily="34" charset="0"/>
                <a:ea typeface="Calibri" pitchFamily="34" charset="-122"/>
                <a:cs typeface="Calibri" pitchFamily="34" charset="-120"/>
              </a:rPr>
              <a:t>03</a:t>
            </a:r>
            <a:endParaRPr lang="en-US" sz="1250" dirty="0"/>
          </a:p>
        </p:txBody>
      </p:sp>
      <p:sp>
        <p:nvSpPr>
          <p:cNvPr id="18" name="Text 16"/>
          <p:cNvSpPr txBox="1"/>
          <p:nvPr/>
        </p:nvSpPr>
        <p:spPr>
          <a:xfrm>
            <a:off x="1444752" y="4078224"/>
            <a:ext cx="4224528" cy="347472"/>
          </a:xfrm>
          <a:prstGeom prst="rect">
            <a:avLst/>
          </a:prstGeom>
          <a:noFill/>
          <a:ln/>
        </p:spPr>
        <p:txBody>
          <a:bodyPr wrap="square" lIns="0" tIns="0" rIns="0" bIns="0" rtlCol="0" anchor="ctr"/>
          <a:lstStyle/>
          <a:p>
            <a:pPr marL="0" indent="0">
              <a:buNone/>
            </a:pPr>
            <a:r>
              <a:rPr lang="en-US" sz="1650" b="1" dirty="0">
                <a:solidFill>
                  <a:srgbClr val="534AB7"/>
                </a:solidFill>
                <a:latin typeface="Calibri" pitchFamily="34" charset="0"/>
                <a:ea typeface="Calibri" pitchFamily="34" charset="-122"/>
                <a:cs typeface="Calibri" pitchFamily="34" charset="-120"/>
              </a:rPr>
              <a:t>Automated CAPA reports</a:t>
            </a:r>
            <a:endParaRPr lang="en-US" sz="1650" dirty="0"/>
          </a:p>
        </p:txBody>
      </p:sp>
      <p:sp>
        <p:nvSpPr>
          <p:cNvPr id="19" name="Text 17"/>
          <p:cNvSpPr txBox="1"/>
          <p:nvPr/>
        </p:nvSpPr>
        <p:spPr>
          <a:xfrm>
            <a:off x="1444752" y="4544568"/>
            <a:ext cx="4224528" cy="1143000"/>
          </a:xfrm>
          <a:prstGeom prst="rect">
            <a:avLst/>
          </a:prstGeom>
          <a:noFill/>
          <a:ln/>
        </p:spPr>
        <p:txBody>
          <a:bodyPr wrap="square" lIns="0" tIns="0" rIns="0" bIns="0" rtlCol="0" anchor="ctr"/>
          <a:lstStyle/>
          <a:p>
            <a:pPr marL="0" indent="0">
              <a:buNone/>
            </a:pPr>
            <a:r>
              <a:rPr lang="en-US" sz="1150" dirty="0">
                <a:solidFill>
                  <a:srgbClr val="5F5E5A"/>
                </a:solidFill>
                <a:latin typeface="Calibri" pitchFamily="34" charset="0"/>
                <a:ea typeface="Calibri" pitchFamily="34" charset="-122"/>
                <a:cs typeface="Calibri" pitchFamily="34" charset="-120"/>
              </a:rPr>
              <a:t>One click produces the full regulatory document: executive summary, findings, ICH classification, root cause analysis, corrective actions with owners and deadlines, and preventive actions.</a:t>
            </a:r>
            <a:endParaRPr lang="en-US" sz="1150" dirty="0"/>
          </a:p>
        </p:txBody>
      </p:sp>
      <p:sp>
        <p:nvSpPr>
          <p:cNvPr id="20" name="Shape 18"/>
          <p:cNvSpPr/>
          <p:nvPr/>
        </p:nvSpPr>
        <p:spPr>
          <a:xfrm>
            <a:off x="6263640" y="3794760"/>
            <a:ext cx="5376672" cy="2011680"/>
          </a:xfrm>
          <a:prstGeom prst="roundRect">
            <a:avLst>
              <a:gd name="adj" fmla="val 3182"/>
            </a:avLst>
          </a:prstGeom>
          <a:solidFill>
            <a:srgbClr val="EEEDFE"/>
          </a:solidFill>
          <a:ln w="9525">
            <a:solidFill>
              <a:srgbClr val="7F77DD"/>
            </a:solidFill>
            <a:prstDash val="solid"/>
          </a:ln>
        </p:spPr>
      </p:sp>
      <p:sp>
        <p:nvSpPr>
          <p:cNvPr id="21" name="Shape 19"/>
          <p:cNvSpPr/>
          <p:nvPr/>
        </p:nvSpPr>
        <p:spPr>
          <a:xfrm>
            <a:off x="6519672" y="4032504"/>
            <a:ext cx="475488" cy="475488"/>
          </a:xfrm>
          <a:prstGeom prst="ellipse">
            <a:avLst/>
          </a:prstGeom>
          <a:solidFill>
            <a:srgbClr val="FFFFFF"/>
          </a:solidFill>
          <a:ln w="12700">
            <a:solidFill>
              <a:srgbClr val="7F77DD"/>
            </a:solidFill>
            <a:prstDash val="solid"/>
          </a:ln>
        </p:spPr>
      </p:sp>
      <p:sp>
        <p:nvSpPr>
          <p:cNvPr id="22" name="Text 20"/>
          <p:cNvSpPr txBox="1"/>
          <p:nvPr/>
        </p:nvSpPr>
        <p:spPr>
          <a:xfrm>
            <a:off x="6519672" y="4142232"/>
            <a:ext cx="475488" cy="256032"/>
          </a:xfrm>
          <a:prstGeom prst="rect">
            <a:avLst/>
          </a:prstGeom>
          <a:noFill/>
          <a:ln/>
        </p:spPr>
        <p:txBody>
          <a:bodyPr wrap="square" lIns="0" tIns="0" rIns="0" bIns="0" rtlCol="0" anchor="ctr"/>
          <a:lstStyle/>
          <a:p>
            <a:pPr marL="0" indent="0" algn="ctr">
              <a:buNone/>
            </a:pPr>
            <a:r>
              <a:rPr lang="en-US" sz="1250" b="1" dirty="0">
                <a:solidFill>
                  <a:srgbClr val="534AB7"/>
                </a:solidFill>
                <a:latin typeface="Calibri" pitchFamily="34" charset="0"/>
                <a:ea typeface="Calibri" pitchFamily="34" charset="-122"/>
                <a:cs typeface="Calibri" pitchFamily="34" charset="-120"/>
              </a:rPr>
              <a:t>04</a:t>
            </a:r>
            <a:endParaRPr lang="en-US" sz="1250" dirty="0"/>
          </a:p>
        </p:txBody>
      </p:sp>
      <p:sp>
        <p:nvSpPr>
          <p:cNvPr id="23" name="Text 21"/>
          <p:cNvSpPr txBox="1"/>
          <p:nvPr/>
        </p:nvSpPr>
        <p:spPr>
          <a:xfrm>
            <a:off x="7159752" y="4078224"/>
            <a:ext cx="4224528" cy="347472"/>
          </a:xfrm>
          <a:prstGeom prst="rect">
            <a:avLst/>
          </a:prstGeom>
          <a:noFill/>
          <a:ln/>
        </p:spPr>
        <p:txBody>
          <a:bodyPr wrap="square" lIns="0" tIns="0" rIns="0" bIns="0" rtlCol="0" anchor="ctr"/>
          <a:lstStyle/>
          <a:p>
            <a:pPr marL="0" indent="0">
              <a:buNone/>
            </a:pPr>
            <a:r>
              <a:rPr lang="en-US" sz="1650" b="1" dirty="0">
                <a:solidFill>
                  <a:srgbClr val="534AB7"/>
                </a:solidFill>
                <a:latin typeface="Calibri" pitchFamily="34" charset="0"/>
                <a:ea typeface="Calibri" pitchFamily="34" charset="-122"/>
                <a:cs typeface="Calibri" pitchFamily="34" charset="-120"/>
              </a:rPr>
              <a:t>IBM Bob integration via MCP</a:t>
            </a:r>
            <a:endParaRPr lang="en-US" sz="1650" dirty="0"/>
          </a:p>
        </p:txBody>
      </p:sp>
      <p:sp>
        <p:nvSpPr>
          <p:cNvPr id="24" name="Text 22"/>
          <p:cNvSpPr txBox="1"/>
          <p:nvPr/>
        </p:nvSpPr>
        <p:spPr>
          <a:xfrm>
            <a:off x="7159752" y="4544568"/>
            <a:ext cx="4224528" cy="1143000"/>
          </a:xfrm>
          <a:prstGeom prst="rect">
            <a:avLst/>
          </a:prstGeom>
          <a:noFill/>
          <a:ln/>
        </p:spPr>
        <p:txBody>
          <a:bodyPr wrap="square" lIns="0" tIns="0" rIns="0" bIns="0" rtlCol="0" anchor="ctr"/>
          <a:lstStyle/>
          <a:p>
            <a:pPr marL="0" indent="0">
              <a:buNone/>
            </a:pPr>
            <a:r>
              <a:rPr lang="en-US" sz="1150" dirty="0">
                <a:solidFill>
                  <a:srgbClr val="5F5E5A"/>
                </a:solidFill>
                <a:latin typeface="Calibri" pitchFamily="34" charset="0"/>
                <a:ea typeface="Calibri" pitchFamily="34" charset="-122"/>
                <a:cs typeface="Calibri" pitchFamily="34" charset="-120"/>
              </a:rPr>
              <a:t>The same engine is exposed as an MCP server with 5 tools. An auditor can ask for deviations, risk scores or a CAPA report conversationally — no dashboard, no training, identical data.</a:t>
            </a:r>
            <a:endParaRPr lang="en-US" sz="1150" dirty="0"/>
          </a:p>
        </p:txBody>
      </p:sp>
      <p:sp>
        <p:nvSpPr>
          <p:cNvPr id="25" name="Text 23"/>
          <p:cNvSpPr txBox="1"/>
          <p:nvPr/>
        </p:nvSpPr>
        <p:spPr>
          <a:xfrm>
            <a:off x="548640" y="6126480"/>
            <a:ext cx="11064240" cy="274320"/>
          </a:xfrm>
          <a:prstGeom prst="rect">
            <a:avLst/>
          </a:prstGeom>
          <a:noFill/>
          <a:ln/>
        </p:spPr>
        <p:txBody>
          <a:bodyPr wrap="square" lIns="0" tIns="0" rIns="0" bIns="0" rtlCol="0" anchor="ctr"/>
          <a:lstStyle/>
          <a:p>
            <a:pPr marL="0" indent="0">
              <a:buNone/>
            </a:pPr>
            <a:r>
              <a:rPr lang="en-US" sz="1200" i="1" dirty="0">
                <a:solidFill>
                  <a:srgbClr val="5F5E5A"/>
                </a:solidFill>
                <a:latin typeface="Cambria" pitchFamily="34" charset="0"/>
                <a:ea typeface="Cambria" pitchFamily="34" charset="-122"/>
                <a:cs typeface="Cambria" pitchFamily="34" charset="-120"/>
              </a:rPr>
              <a:t>895 deviations detected and 210 sites scored in the current dataset — with zero manual record review.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CAPABILITIES 01 AND 02</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How detection and scoring work</a:t>
            </a:r>
            <a:endParaRPr lang="en-US" sz="3100" dirty="0"/>
          </a:p>
        </p:txBody>
      </p:sp>
      <p:sp>
        <p:nvSpPr>
          <p:cNvPr id="4" name="Text 2"/>
          <p:cNvSpPr txBox="1"/>
          <p:nvPr/>
        </p:nvSpPr>
        <p:spPr>
          <a:xfrm>
            <a:off x="548640" y="1024128"/>
            <a:ext cx="11064240" cy="274320"/>
          </a:xfrm>
          <a:prstGeom prst="rect">
            <a:avLst/>
          </a:prstGeom>
          <a:noFill/>
          <a:ln/>
        </p:spPr>
        <p:txBody>
          <a:bodyPr wrap="square" lIns="0" tIns="0" rIns="0" bIns="0" rtlCol="0" anchor="ctr"/>
          <a:lstStyle/>
          <a:p>
            <a:pPr marL="0" indent="0">
              <a:buNone/>
            </a:pPr>
            <a:r>
              <a:rPr lang="en-US" sz="1400" dirty="0">
                <a:solidFill>
                  <a:srgbClr val="5F5E5A"/>
                </a:solidFill>
                <a:latin typeface="Calibri" pitchFamily="34" charset="0"/>
                <a:ea typeface="Calibri" pitchFamily="34" charset="-122"/>
                <a:cs typeface="Calibri" pitchFamily="34" charset="-120"/>
              </a:rPr>
              <a:t>Rule-based and deterministic throughout — every flag traces to one protocol rule and one patient record.</a:t>
            </a:r>
            <a:endParaRPr lang="en-US" sz="1400" dirty="0"/>
          </a:p>
        </p:txBody>
      </p:sp>
      <p:sp>
        <p:nvSpPr>
          <p:cNvPr id="5" name="Text 3"/>
          <p:cNvSpPr txBox="1"/>
          <p:nvPr/>
        </p:nvSpPr>
        <p:spPr>
          <a:xfrm>
            <a:off x="548640" y="1444752"/>
            <a:ext cx="5486400" cy="256032"/>
          </a:xfrm>
          <a:prstGeom prst="rect">
            <a:avLst/>
          </a:prstGeom>
          <a:noFill/>
          <a:ln/>
        </p:spPr>
        <p:txBody>
          <a:bodyPr wrap="square" lIns="0" tIns="0" rIns="0" bIns="0" rtlCol="0" anchor="ctr"/>
          <a:lstStyle/>
          <a:p>
            <a:pPr marL="0" indent="0">
              <a:buNone/>
            </a:pPr>
            <a:r>
              <a:rPr lang="en-US" sz="1350" b="1" dirty="0">
                <a:solidFill>
                  <a:srgbClr val="2C2C2A"/>
                </a:solidFill>
                <a:latin typeface="Calibri" pitchFamily="34" charset="0"/>
                <a:ea typeface="Calibri" pitchFamily="34" charset="-122"/>
                <a:cs typeface="Calibri" pitchFamily="34" charset="-120"/>
              </a:rPr>
              <a:t>Five detection categories</a:t>
            </a:r>
            <a:endParaRPr lang="en-US" sz="1350" dirty="0"/>
          </a:p>
        </p:txBody>
      </p:sp>
      <p:sp>
        <p:nvSpPr>
          <p:cNvPr id="6" name="Shape 4"/>
          <p:cNvSpPr/>
          <p:nvPr/>
        </p:nvSpPr>
        <p:spPr>
          <a:xfrm>
            <a:off x="548640" y="1755648"/>
            <a:ext cx="5486400" cy="585216"/>
          </a:xfrm>
          <a:prstGeom prst="roundRect">
            <a:avLst>
              <a:gd name="adj" fmla="val 10938"/>
            </a:avLst>
          </a:prstGeom>
          <a:solidFill>
            <a:srgbClr val="FFFFFF"/>
          </a:solidFill>
          <a:ln w="9525">
            <a:solidFill>
              <a:srgbClr val="D3D1C7"/>
            </a:solidFill>
            <a:prstDash val="solid"/>
          </a:ln>
        </p:spPr>
      </p:sp>
      <p:sp>
        <p:nvSpPr>
          <p:cNvPr id="7" name="Text 5"/>
          <p:cNvSpPr txBox="1"/>
          <p:nvPr/>
        </p:nvSpPr>
        <p:spPr>
          <a:xfrm>
            <a:off x="777240" y="1819656"/>
            <a:ext cx="31089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Late visit</a:t>
            </a:r>
            <a:endParaRPr lang="en-US" sz="1250" dirty="0"/>
          </a:p>
        </p:txBody>
      </p:sp>
      <p:sp>
        <p:nvSpPr>
          <p:cNvPr id="8" name="Text 6"/>
          <p:cNvSpPr txBox="1"/>
          <p:nvPr/>
        </p:nvSpPr>
        <p:spPr>
          <a:xfrm>
            <a:off x="777240" y="2057400"/>
            <a:ext cx="393192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Outside the allowed window — Day 30 ±3, actual Day 37</a:t>
            </a:r>
            <a:endParaRPr lang="en-US" sz="1000" dirty="0"/>
          </a:p>
        </p:txBody>
      </p:sp>
      <p:sp>
        <p:nvSpPr>
          <p:cNvPr id="9" name="Shape 7"/>
          <p:cNvSpPr/>
          <p:nvPr/>
        </p:nvSpPr>
        <p:spPr>
          <a:xfrm>
            <a:off x="5029200" y="1911096"/>
            <a:ext cx="777240" cy="274320"/>
          </a:xfrm>
          <a:prstGeom prst="roundRect">
            <a:avLst>
              <a:gd name="adj" fmla="val 50000"/>
            </a:avLst>
          </a:prstGeom>
          <a:solidFill>
            <a:srgbClr val="FAECE7"/>
          </a:solidFill>
          <a:ln w="9525">
            <a:solidFill>
              <a:srgbClr val="D85A30"/>
            </a:solidFill>
            <a:prstDash val="solid"/>
          </a:ln>
        </p:spPr>
      </p:sp>
      <p:sp>
        <p:nvSpPr>
          <p:cNvPr id="10" name="Text 8"/>
          <p:cNvSpPr txBox="1"/>
          <p:nvPr/>
        </p:nvSpPr>
        <p:spPr>
          <a:xfrm>
            <a:off x="5029200" y="1956816"/>
            <a:ext cx="777240" cy="201168"/>
          </a:xfrm>
          <a:prstGeom prst="rect">
            <a:avLst/>
          </a:prstGeom>
          <a:noFill/>
          <a:ln/>
        </p:spPr>
        <p:txBody>
          <a:bodyPr wrap="square" lIns="0" tIns="0" rIns="0" bIns="0" rtlCol="0" anchor="ctr"/>
          <a:lstStyle/>
          <a:p>
            <a:pPr marL="0" indent="0" algn="ctr">
              <a:buNone/>
            </a:pPr>
            <a:r>
              <a:rPr lang="en-US" sz="950" b="1" dirty="0">
                <a:solidFill>
                  <a:srgbClr val="993C1D"/>
                </a:solidFill>
                <a:latin typeface="Calibri" pitchFamily="34" charset="0"/>
                <a:ea typeface="Calibri" pitchFamily="34" charset="-122"/>
                <a:cs typeface="Calibri" pitchFamily="34" charset="-120"/>
              </a:rPr>
              <a:t>Major</a:t>
            </a:r>
            <a:endParaRPr lang="en-US" sz="950" dirty="0"/>
          </a:p>
        </p:txBody>
      </p:sp>
      <p:sp>
        <p:nvSpPr>
          <p:cNvPr id="11" name="Shape 9"/>
          <p:cNvSpPr/>
          <p:nvPr/>
        </p:nvSpPr>
        <p:spPr>
          <a:xfrm>
            <a:off x="548640" y="2414016"/>
            <a:ext cx="5486400" cy="585216"/>
          </a:xfrm>
          <a:prstGeom prst="roundRect">
            <a:avLst>
              <a:gd name="adj" fmla="val 10938"/>
            </a:avLst>
          </a:prstGeom>
          <a:solidFill>
            <a:srgbClr val="FFFFFF"/>
          </a:solidFill>
          <a:ln w="9525">
            <a:solidFill>
              <a:srgbClr val="D3D1C7"/>
            </a:solidFill>
            <a:prstDash val="solid"/>
          </a:ln>
        </p:spPr>
      </p:sp>
      <p:sp>
        <p:nvSpPr>
          <p:cNvPr id="12" name="Text 10"/>
          <p:cNvSpPr txBox="1"/>
          <p:nvPr/>
        </p:nvSpPr>
        <p:spPr>
          <a:xfrm>
            <a:off x="777240" y="2478024"/>
            <a:ext cx="31089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Missed visit</a:t>
            </a:r>
            <a:endParaRPr lang="en-US" sz="1250" dirty="0"/>
          </a:p>
        </p:txBody>
      </p:sp>
      <p:sp>
        <p:nvSpPr>
          <p:cNvPr id="13" name="Text 11"/>
          <p:cNvSpPr txBox="1"/>
          <p:nvPr/>
        </p:nvSpPr>
        <p:spPr>
          <a:xfrm>
            <a:off x="777240" y="2715768"/>
            <a:ext cx="393192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A required visit never took place at all</a:t>
            </a:r>
            <a:endParaRPr lang="en-US" sz="1000" dirty="0"/>
          </a:p>
        </p:txBody>
      </p:sp>
      <p:sp>
        <p:nvSpPr>
          <p:cNvPr id="14" name="Shape 12"/>
          <p:cNvSpPr/>
          <p:nvPr/>
        </p:nvSpPr>
        <p:spPr>
          <a:xfrm>
            <a:off x="5029200" y="2569464"/>
            <a:ext cx="777240" cy="274320"/>
          </a:xfrm>
          <a:prstGeom prst="roundRect">
            <a:avLst>
              <a:gd name="adj" fmla="val 50000"/>
            </a:avLst>
          </a:prstGeom>
          <a:solidFill>
            <a:srgbClr val="FAECE7"/>
          </a:solidFill>
          <a:ln w="9525">
            <a:solidFill>
              <a:srgbClr val="D85A30"/>
            </a:solidFill>
            <a:prstDash val="solid"/>
          </a:ln>
        </p:spPr>
      </p:sp>
      <p:sp>
        <p:nvSpPr>
          <p:cNvPr id="15" name="Text 13"/>
          <p:cNvSpPr txBox="1"/>
          <p:nvPr/>
        </p:nvSpPr>
        <p:spPr>
          <a:xfrm>
            <a:off x="5029200" y="2615184"/>
            <a:ext cx="777240" cy="201168"/>
          </a:xfrm>
          <a:prstGeom prst="rect">
            <a:avLst/>
          </a:prstGeom>
          <a:noFill/>
          <a:ln/>
        </p:spPr>
        <p:txBody>
          <a:bodyPr wrap="square" lIns="0" tIns="0" rIns="0" bIns="0" rtlCol="0" anchor="ctr"/>
          <a:lstStyle/>
          <a:p>
            <a:pPr marL="0" indent="0" algn="ctr">
              <a:buNone/>
            </a:pPr>
            <a:r>
              <a:rPr lang="en-US" sz="950" b="1" dirty="0">
                <a:solidFill>
                  <a:srgbClr val="993C1D"/>
                </a:solidFill>
                <a:latin typeface="Calibri" pitchFamily="34" charset="0"/>
                <a:ea typeface="Calibri" pitchFamily="34" charset="-122"/>
                <a:cs typeface="Calibri" pitchFamily="34" charset="-120"/>
              </a:rPr>
              <a:t>Major</a:t>
            </a:r>
            <a:endParaRPr lang="en-US" sz="950" dirty="0"/>
          </a:p>
        </p:txBody>
      </p:sp>
      <p:sp>
        <p:nvSpPr>
          <p:cNvPr id="16" name="Shape 14"/>
          <p:cNvSpPr/>
          <p:nvPr/>
        </p:nvSpPr>
        <p:spPr>
          <a:xfrm>
            <a:off x="548640" y="3072384"/>
            <a:ext cx="5486400" cy="585216"/>
          </a:xfrm>
          <a:prstGeom prst="roundRect">
            <a:avLst>
              <a:gd name="adj" fmla="val 10938"/>
            </a:avLst>
          </a:prstGeom>
          <a:solidFill>
            <a:srgbClr val="FFFFFF"/>
          </a:solidFill>
          <a:ln w="9525">
            <a:solidFill>
              <a:srgbClr val="D3D1C7"/>
            </a:solidFill>
            <a:prstDash val="solid"/>
          </a:ln>
        </p:spPr>
      </p:sp>
      <p:sp>
        <p:nvSpPr>
          <p:cNvPr id="17" name="Text 15"/>
          <p:cNvSpPr txBox="1"/>
          <p:nvPr/>
        </p:nvSpPr>
        <p:spPr>
          <a:xfrm>
            <a:off x="777240" y="3136392"/>
            <a:ext cx="31089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Wrong dose</a:t>
            </a:r>
            <a:endParaRPr lang="en-US" sz="1250" dirty="0"/>
          </a:p>
        </p:txBody>
      </p:sp>
      <p:sp>
        <p:nvSpPr>
          <p:cNvPr id="18" name="Text 16"/>
          <p:cNvSpPr txBox="1"/>
          <p:nvPr/>
        </p:nvSpPr>
        <p:spPr>
          <a:xfrm>
            <a:off x="777240" y="3374136"/>
            <a:ext cx="393192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150mg specified in protocol, 200mg administered</a:t>
            </a:r>
            <a:endParaRPr lang="en-US" sz="1000" dirty="0"/>
          </a:p>
        </p:txBody>
      </p:sp>
      <p:sp>
        <p:nvSpPr>
          <p:cNvPr id="19" name="Shape 17"/>
          <p:cNvSpPr/>
          <p:nvPr/>
        </p:nvSpPr>
        <p:spPr>
          <a:xfrm>
            <a:off x="5029200" y="3227832"/>
            <a:ext cx="777240" cy="274320"/>
          </a:xfrm>
          <a:prstGeom prst="roundRect">
            <a:avLst>
              <a:gd name="adj" fmla="val 50000"/>
            </a:avLst>
          </a:prstGeom>
          <a:solidFill>
            <a:srgbClr val="FAECE7"/>
          </a:solidFill>
          <a:ln w="9525">
            <a:solidFill>
              <a:srgbClr val="D85A30"/>
            </a:solidFill>
            <a:prstDash val="solid"/>
          </a:ln>
        </p:spPr>
      </p:sp>
      <p:sp>
        <p:nvSpPr>
          <p:cNvPr id="20" name="Text 18"/>
          <p:cNvSpPr txBox="1"/>
          <p:nvPr/>
        </p:nvSpPr>
        <p:spPr>
          <a:xfrm>
            <a:off x="5029200" y="3273552"/>
            <a:ext cx="777240" cy="201168"/>
          </a:xfrm>
          <a:prstGeom prst="rect">
            <a:avLst/>
          </a:prstGeom>
          <a:noFill/>
          <a:ln/>
        </p:spPr>
        <p:txBody>
          <a:bodyPr wrap="square" lIns="0" tIns="0" rIns="0" bIns="0" rtlCol="0" anchor="ctr"/>
          <a:lstStyle/>
          <a:p>
            <a:pPr marL="0" indent="0" algn="ctr">
              <a:buNone/>
            </a:pPr>
            <a:r>
              <a:rPr lang="en-US" sz="950" b="1" dirty="0">
                <a:solidFill>
                  <a:srgbClr val="993C1D"/>
                </a:solidFill>
                <a:latin typeface="Calibri" pitchFamily="34" charset="0"/>
                <a:ea typeface="Calibri" pitchFamily="34" charset="-122"/>
                <a:cs typeface="Calibri" pitchFamily="34" charset="-120"/>
              </a:rPr>
              <a:t>Major</a:t>
            </a:r>
            <a:endParaRPr lang="en-US" sz="950" dirty="0"/>
          </a:p>
        </p:txBody>
      </p:sp>
      <p:sp>
        <p:nvSpPr>
          <p:cNvPr id="21" name="Shape 19"/>
          <p:cNvSpPr/>
          <p:nvPr/>
        </p:nvSpPr>
        <p:spPr>
          <a:xfrm>
            <a:off x="548640" y="3730752"/>
            <a:ext cx="5486400" cy="585216"/>
          </a:xfrm>
          <a:prstGeom prst="roundRect">
            <a:avLst>
              <a:gd name="adj" fmla="val 10938"/>
            </a:avLst>
          </a:prstGeom>
          <a:solidFill>
            <a:srgbClr val="FFFFFF"/>
          </a:solidFill>
          <a:ln w="9525">
            <a:solidFill>
              <a:srgbClr val="D3D1C7"/>
            </a:solidFill>
            <a:prstDash val="solid"/>
          </a:ln>
        </p:spPr>
      </p:sp>
      <p:sp>
        <p:nvSpPr>
          <p:cNvPr id="22" name="Text 20"/>
          <p:cNvSpPr txBox="1"/>
          <p:nvPr/>
        </p:nvSpPr>
        <p:spPr>
          <a:xfrm>
            <a:off x="777240" y="3794760"/>
            <a:ext cx="31089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Banned medication</a:t>
            </a:r>
            <a:endParaRPr lang="en-US" sz="1250" dirty="0"/>
          </a:p>
        </p:txBody>
      </p:sp>
      <p:sp>
        <p:nvSpPr>
          <p:cNvPr id="23" name="Text 21"/>
          <p:cNvSpPr txBox="1"/>
          <p:nvPr/>
        </p:nvSpPr>
        <p:spPr>
          <a:xfrm>
            <a:off x="777240" y="4032504"/>
            <a:ext cx="393192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Prohibited concomitant drug on the medication log</a:t>
            </a:r>
            <a:endParaRPr lang="en-US" sz="1000" dirty="0"/>
          </a:p>
        </p:txBody>
      </p:sp>
      <p:sp>
        <p:nvSpPr>
          <p:cNvPr id="24" name="Shape 22"/>
          <p:cNvSpPr/>
          <p:nvPr/>
        </p:nvSpPr>
        <p:spPr>
          <a:xfrm>
            <a:off x="5029200" y="3886200"/>
            <a:ext cx="777240" cy="274320"/>
          </a:xfrm>
          <a:prstGeom prst="roundRect">
            <a:avLst>
              <a:gd name="adj" fmla="val 50000"/>
            </a:avLst>
          </a:prstGeom>
          <a:solidFill>
            <a:srgbClr val="FAECE7"/>
          </a:solidFill>
          <a:ln w="9525">
            <a:solidFill>
              <a:srgbClr val="D85A30"/>
            </a:solidFill>
            <a:prstDash val="solid"/>
          </a:ln>
        </p:spPr>
      </p:sp>
      <p:sp>
        <p:nvSpPr>
          <p:cNvPr id="25" name="Text 23"/>
          <p:cNvSpPr txBox="1"/>
          <p:nvPr/>
        </p:nvSpPr>
        <p:spPr>
          <a:xfrm>
            <a:off x="5029200" y="3931920"/>
            <a:ext cx="777240" cy="201168"/>
          </a:xfrm>
          <a:prstGeom prst="rect">
            <a:avLst/>
          </a:prstGeom>
          <a:noFill/>
          <a:ln/>
        </p:spPr>
        <p:txBody>
          <a:bodyPr wrap="square" lIns="0" tIns="0" rIns="0" bIns="0" rtlCol="0" anchor="ctr"/>
          <a:lstStyle/>
          <a:p>
            <a:pPr marL="0" indent="0" algn="ctr">
              <a:buNone/>
            </a:pPr>
            <a:r>
              <a:rPr lang="en-US" sz="950" b="1" dirty="0">
                <a:solidFill>
                  <a:srgbClr val="993C1D"/>
                </a:solidFill>
                <a:latin typeface="Calibri" pitchFamily="34" charset="0"/>
                <a:ea typeface="Calibri" pitchFamily="34" charset="-122"/>
                <a:cs typeface="Calibri" pitchFamily="34" charset="-120"/>
              </a:rPr>
              <a:t>Major</a:t>
            </a:r>
            <a:endParaRPr lang="en-US" sz="950" dirty="0"/>
          </a:p>
        </p:txBody>
      </p:sp>
      <p:sp>
        <p:nvSpPr>
          <p:cNvPr id="26" name="Shape 24"/>
          <p:cNvSpPr/>
          <p:nvPr/>
        </p:nvSpPr>
        <p:spPr>
          <a:xfrm>
            <a:off x="548640" y="4389120"/>
            <a:ext cx="5486400" cy="585216"/>
          </a:xfrm>
          <a:prstGeom prst="roundRect">
            <a:avLst>
              <a:gd name="adj" fmla="val 10938"/>
            </a:avLst>
          </a:prstGeom>
          <a:solidFill>
            <a:srgbClr val="FFFFFF"/>
          </a:solidFill>
          <a:ln w="9525">
            <a:solidFill>
              <a:srgbClr val="D3D1C7"/>
            </a:solidFill>
            <a:prstDash val="solid"/>
          </a:ln>
        </p:spPr>
      </p:sp>
      <p:sp>
        <p:nvSpPr>
          <p:cNvPr id="27" name="Text 25"/>
          <p:cNvSpPr txBox="1"/>
          <p:nvPr/>
        </p:nvSpPr>
        <p:spPr>
          <a:xfrm>
            <a:off x="777240" y="4453128"/>
            <a:ext cx="31089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Missing assessment</a:t>
            </a:r>
            <a:endParaRPr lang="en-US" sz="1250" dirty="0"/>
          </a:p>
        </p:txBody>
      </p:sp>
      <p:sp>
        <p:nvSpPr>
          <p:cNvPr id="28" name="Text 26"/>
          <p:cNvSpPr txBox="1"/>
          <p:nvPr/>
        </p:nvSpPr>
        <p:spPr>
          <a:xfrm>
            <a:off x="777240" y="4690872"/>
            <a:ext cx="393192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Required lab or vital sign never recorded</a:t>
            </a:r>
            <a:endParaRPr lang="en-US" sz="1000" dirty="0"/>
          </a:p>
        </p:txBody>
      </p:sp>
      <p:sp>
        <p:nvSpPr>
          <p:cNvPr id="29" name="Shape 27"/>
          <p:cNvSpPr/>
          <p:nvPr/>
        </p:nvSpPr>
        <p:spPr>
          <a:xfrm>
            <a:off x="5029200" y="4544568"/>
            <a:ext cx="777240" cy="274320"/>
          </a:xfrm>
          <a:prstGeom prst="roundRect">
            <a:avLst>
              <a:gd name="adj" fmla="val 50000"/>
            </a:avLst>
          </a:prstGeom>
          <a:solidFill>
            <a:srgbClr val="F1EFE8"/>
          </a:solidFill>
          <a:ln w="9525">
            <a:solidFill>
              <a:srgbClr val="D3D1C7"/>
            </a:solidFill>
            <a:prstDash val="solid"/>
          </a:ln>
        </p:spPr>
      </p:sp>
      <p:sp>
        <p:nvSpPr>
          <p:cNvPr id="30" name="Text 28"/>
          <p:cNvSpPr txBox="1"/>
          <p:nvPr/>
        </p:nvSpPr>
        <p:spPr>
          <a:xfrm>
            <a:off x="5029200" y="4590288"/>
            <a:ext cx="777240" cy="201168"/>
          </a:xfrm>
          <a:prstGeom prst="rect">
            <a:avLst/>
          </a:prstGeom>
          <a:noFill/>
          <a:ln/>
        </p:spPr>
        <p:txBody>
          <a:bodyPr wrap="square" lIns="0" tIns="0" rIns="0" bIns="0" rtlCol="0" anchor="ctr"/>
          <a:lstStyle/>
          <a:p>
            <a:pPr marL="0" indent="0" algn="ctr">
              <a:buNone/>
            </a:pPr>
            <a:r>
              <a:rPr lang="en-US" sz="950" b="1" dirty="0">
                <a:solidFill>
                  <a:srgbClr val="5F5E5A"/>
                </a:solidFill>
                <a:latin typeface="Calibri" pitchFamily="34" charset="0"/>
                <a:ea typeface="Calibri" pitchFamily="34" charset="-122"/>
                <a:cs typeface="Calibri" pitchFamily="34" charset="-120"/>
              </a:rPr>
              <a:t>Minor</a:t>
            </a:r>
            <a:endParaRPr lang="en-US" sz="950" dirty="0"/>
          </a:p>
        </p:txBody>
      </p:sp>
      <p:sp>
        <p:nvSpPr>
          <p:cNvPr id="31" name="Shape 29"/>
          <p:cNvSpPr/>
          <p:nvPr/>
        </p:nvSpPr>
        <p:spPr>
          <a:xfrm>
            <a:off x="548640" y="5120640"/>
            <a:ext cx="5486400" cy="1188720"/>
          </a:xfrm>
          <a:prstGeom prst="roundRect">
            <a:avLst>
              <a:gd name="adj" fmla="val 5385"/>
            </a:avLst>
          </a:prstGeom>
          <a:solidFill>
            <a:srgbClr val="E1F5EE"/>
          </a:solidFill>
          <a:ln w="9525">
            <a:solidFill>
              <a:srgbClr val="1D9E75"/>
            </a:solidFill>
            <a:prstDash val="solid"/>
          </a:ln>
        </p:spPr>
      </p:sp>
      <p:sp>
        <p:nvSpPr>
          <p:cNvPr id="32" name="Text 30"/>
          <p:cNvSpPr txBox="1"/>
          <p:nvPr/>
        </p:nvSpPr>
        <p:spPr>
          <a:xfrm>
            <a:off x="777240" y="5230368"/>
            <a:ext cx="5029200" cy="256032"/>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Why rule-based rather than machine learning</a:t>
            </a:r>
            <a:endParaRPr lang="en-US" sz="1250" dirty="0"/>
          </a:p>
        </p:txBody>
      </p:sp>
      <p:sp>
        <p:nvSpPr>
          <p:cNvPr id="33" name="Text 31"/>
          <p:cNvSpPr txBox="1"/>
          <p:nvPr/>
        </p:nvSpPr>
        <p:spPr>
          <a:xfrm>
            <a:off x="777240" y="5504688"/>
            <a:ext cx="5029200" cy="713232"/>
          </a:xfrm>
          <a:prstGeom prst="rect">
            <a:avLst/>
          </a:prstGeom>
          <a:noFill/>
          <a:ln/>
        </p:spPr>
        <p:txBody>
          <a:bodyPr wrap="square" lIns="0" tIns="0" rIns="0" bIns="0" rtlCol="0" anchor="ctr"/>
          <a:lstStyle/>
          <a:p>
            <a:pPr marL="0" indent="0">
              <a:buNone/>
            </a:pPr>
            <a:r>
              <a:rPr lang="en-US" sz="1100" dirty="0">
                <a:solidFill>
                  <a:srgbClr val="0F6E56"/>
                </a:solidFill>
                <a:latin typeface="Calibri" pitchFamily="34" charset="0"/>
                <a:ea typeface="Calibri" pitchFamily="34" charset="-122"/>
                <a:cs typeface="Calibri" pitchFamily="34" charset="-120"/>
              </a:rPr>
              <a:t>An FDA inspector can point at any flag and ask why. The answer must be a protocol clause and a record ID, never a probability score. Same input always yields the same flag, with no tuning required at go-live.</a:t>
            </a:r>
            <a:endParaRPr lang="en-US" sz="1100" dirty="0"/>
          </a:p>
        </p:txBody>
      </p:sp>
      <p:sp>
        <p:nvSpPr>
          <p:cNvPr id="34" name="Text 32"/>
          <p:cNvSpPr txBox="1"/>
          <p:nvPr/>
        </p:nvSpPr>
        <p:spPr>
          <a:xfrm>
            <a:off x="6355080" y="1444752"/>
            <a:ext cx="5303520" cy="256032"/>
          </a:xfrm>
          <a:prstGeom prst="rect">
            <a:avLst/>
          </a:prstGeom>
          <a:noFill/>
          <a:ln/>
        </p:spPr>
        <p:txBody>
          <a:bodyPr wrap="square" lIns="0" tIns="0" rIns="0" bIns="0" rtlCol="0" anchor="ctr"/>
          <a:lstStyle/>
          <a:p>
            <a:pPr marL="0" indent="0">
              <a:buNone/>
            </a:pPr>
            <a:r>
              <a:rPr lang="en-US" sz="1350" b="1" dirty="0">
                <a:solidFill>
                  <a:srgbClr val="2C2C2A"/>
                </a:solidFill>
                <a:latin typeface="Calibri" pitchFamily="34" charset="0"/>
                <a:ea typeface="Calibri" pitchFamily="34" charset="-122"/>
                <a:cs typeface="Calibri" pitchFamily="34" charset="-120"/>
              </a:rPr>
              <a:t>Risk score — four weighted inputs</a:t>
            </a:r>
            <a:endParaRPr lang="en-US" sz="1350" dirty="0"/>
          </a:p>
        </p:txBody>
      </p:sp>
      <p:sp>
        <p:nvSpPr>
          <p:cNvPr id="35" name="Shape 33"/>
          <p:cNvSpPr/>
          <p:nvPr/>
        </p:nvSpPr>
        <p:spPr>
          <a:xfrm>
            <a:off x="6355080" y="1755648"/>
            <a:ext cx="5285232" cy="585216"/>
          </a:xfrm>
          <a:prstGeom prst="roundRect">
            <a:avLst>
              <a:gd name="adj" fmla="val 10938"/>
            </a:avLst>
          </a:prstGeom>
          <a:solidFill>
            <a:srgbClr val="FFFFFF"/>
          </a:solidFill>
          <a:ln w="9525">
            <a:solidFill>
              <a:srgbClr val="D3D1C7"/>
            </a:solidFill>
            <a:prstDash val="solid"/>
          </a:ln>
        </p:spPr>
      </p:sp>
      <p:sp>
        <p:nvSpPr>
          <p:cNvPr id="36" name="Shape 34"/>
          <p:cNvSpPr/>
          <p:nvPr/>
        </p:nvSpPr>
        <p:spPr>
          <a:xfrm>
            <a:off x="6537960" y="1901952"/>
            <a:ext cx="292608" cy="292608"/>
          </a:xfrm>
          <a:prstGeom prst="ellipse">
            <a:avLst/>
          </a:prstGeom>
          <a:solidFill>
            <a:srgbClr val="E1F5EE"/>
          </a:solidFill>
          <a:ln w="12700">
            <a:solidFill>
              <a:srgbClr val="1D9E75"/>
            </a:solidFill>
            <a:prstDash val="solid"/>
          </a:ln>
        </p:spPr>
      </p:sp>
      <p:sp>
        <p:nvSpPr>
          <p:cNvPr id="37" name="Text 35"/>
          <p:cNvSpPr txBox="1"/>
          <p:nvPr/>
        </p:nvSpPr>
        <p:spPr>
          <a:xfrm>
            <a:off x="6537960" y="1956816"/>
            <a:ext cx="292608" cy="201168"/>
          </a:xfrm>
          <a:prstGeom prst="rect">
            <a:avLst/>
          </a:prstGeom>
          <a:noFill/>
          <a:ln/>
        </p:spPr>
        <p:txBody>
          <a:bodyPr wrap="square" lIns="0" tIns="0" rIns="0" bIns="0" rtlCol="0" anchor="ctr"/>
          <a:lstStyle/>
          <a:p>
            <a:pPr marL="0" indent="0" algn="ctr">
              <a:buNone/>
            </a:pPr>
            <a:r>
              <a:rPr lang="en-US" sz="1050" b="1" dirty="0">
                <a:solidFill>
                  <a:srgbClr val="0F6E56"/>
                </a:solidFill>
                <a:latin typeface="Calibri" pitchFamily="34" charset="0"/>
                <a:ea typeface="Calibri" pitchFamily="34" charset="-122"/>
                <a:cs typeface="Calibri" pitchFamily="34" charset="-120"/>
              </a:rPr>
              <a:t>1</a:t>
            </a:r>
            <a:endParaRPr lang="en-US" sz="1050" dirty="0"/>
          </a:p>
        </p:txBody>
      </p:sp>
      <p:sp>
        <p:nvSpPr>
          <p:cNvPr id="38" name="Text 36"/>
          <p:cNvSpPr txBox="1"/>
          <p:nvPr/>
        </p:nvSpPr>
        <p:spPr>
          <a:xfrm>
            <a:off x="6967728" y="1819656"/>
            <a:ext cx="44805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Volume and severity</a:t>
            </a:r>
            <a:endParaRPr lang="en-US" sz="1250" dirty="0"/>
          </a:p>
        </p:txBody>
      </p:sp>
      <p:sp>
        <p:nvSpPr>
          <p:cNvPr id="39" name="Text 37"/>
          <p:cNvSpPr txBox="1"/>
          <p:nvPr/>
        </p:nvSpPr>
        <p:spPr>
          <a:xfrm>
            <a:off x="6967728" y="2057400"/>
            <a:ext cx="448056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Major deviations weigh far more than administrative ones</a:t>
            </a:r>
            <a:endParaRPr lang="en-US" sz="1000" dirty="0"/>
          </a:p>
        </p:txBody>
      </p:sp>
      <p:sp>
        <p:nvSpPr>
          <p:cNvPr id="40" name="Shape 38"/>
          <p:cNvSpPr/>
          <p:nvPr/>
        </p:nvSpPr>
        <p:spPr>
          <a:xfrm>
            <a:off x="6355080" y="2414016"/>
            <a:ext cx="5285232" cy="585216"/>
          </a:xfrm>
          <a:prstGeom prst="roundRect">
            <a:avLst>
              <a:gd name="adj" fmla="val 10938"/>
            </a:avLst>
          </a:prstGeom>
          <a:solidFill>
            <a:srgbClr val="FFFFFF"/>
          </a:solidFill>
          <a:ln w="9525">
            <a:solidFill>
              <a:srgbClr val="D3D1C7"/>
            </a:solidFill>
            <a:prstDash val="solid"/>
          </a:ln>
        </p:spPr>
      </p:sp>
      <p:sp>
        <p:nvSpPr>
          <p:cNvPr id="41" name="Shape 39"/>
          <p:cNvSpPr/>
          <p:nvPr/>
        </p:nvSpPr>
        <p:spPr>
          <a:xfrm>
            <a:off x="6537960" y="2560320"/>
            <a:ext cx="292608" cy="292608"/>
          </a:xfrm>
          <a:prstGeom prst="ellipse">
            <a:avLst/>
          </a:prstGeom>
          <a:solidFill>
            <a:srgbClr val="E1F5EE"/>
          </a:solidFill>
          <a:ln w="12700">
            <a:solidFill>
              <a:srgbClr val="1D9E75"/>
            </a:solidFill>
            <a:prstDash val="solid"/>
          </a:ln>
        </p:spPr>
      </p:sp>
      <p:sp>
        <p:nvSpPr>
          <p:cNvPr id="42" name="Text 40"/>
          <p:cNvSpPr txBox="1"/>
          <p:nvPr/>
        </p:nvSpPr>
        <p:spPr>
          <a:xfrm>
            <a:off x="6537960" y="2615184"/>
            <a:ext cx="292608" cy="201168"/>
          </a:xfrm>
          <a:prstGeom prst="rect">
            <a:avLst/>
          </a:prstGeom>
          <a:noFill/>
          <a:ln/>
        </p:spPr>
        <p:txBody>
          <a:bodyPr wrap="square" lIns="0" tIns="0" rIns="0" bIns="0" rtlCol="0" anchor="ctr"/>
          <a:lstStyle/>
          <a:p>
            <a:pPr marL="0" indent="0" algn="ctr">
              <a:buNone/>
            </a:pPr>
            <a:r>
              <a:rPr lang="en-US" sz="1050" b="1" dirty="0">
                <a:solidFill>
                  <a:srgbClr val="0F6E56"/>
                </a:solidFill>
                <a:latin typeface="Calibri" pitchFamily="34" charset="0"/>
                <a:ea typeface="Calibri" pitchFamily="34" charset="-122"/>
                <a:cs typeface="Calibri" pitchFamily="34" charset="-120"/>
              </a:rPr>
              <a:t>2</a:t>
            </a:r>
            <a:endParaRPr lang="en-US" sz="1050" dirty="0"/>
          </a:p>
        </p:txBody>
      </p:sp>
      <p:sp>
        <p:nvSpPr>
          <p:cNvPr id="43" name="Text 41"/>
          <p:cNvSpPr txBox="1"/>
          <p:nvPr/>
        </p:nvSpPr>
        <p:spPr>
          <a:xfrm>
            <a:off x="6967728" y="2478024"/>
            <a:ext cx="44805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Trend direction</a:t>
            </a:r>
            <a:endParaRPr lang="en-US" sz="1250" dirty="0"/>
          </a:p>
        </p:txBody>
      </p:sp>
      <p:sp>
        <p:nvSpPr>
          <p:cNvPr id="44" name="Text 42"/>
          <p:cNvSpPr txBox="1"/>
          <p:nvPr/>
        </p:nvSpPr>
        <p:spPr>
          <a:xfrm>
            <a:off x="6967728" y="2715768"/>
            <a:ext cx="448056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A deteriorating site outranks a static one with the same count</a:t>
            </a:r>
            <a:endParaRPr lang="en-US" sz="1000" dirty="0"/>
          </a:p>
        </p:txBody>
      </p:sp>
      <p:sp>
        <p:nvSpPr>
          <p:cNvPr id="45" name="Shape 43"/>
          <p:cNvSpPr/>
          <p:nvPr/>
        </p:nvSpPr>
        <p:spPr>
          <a:xfrm>
            <a:off x="6355080" y="3072384"/>
            <a:ext cx="5285232" cy="585216"/>
          </a:xfrm>
          <a:prstGeom prst="roundRect">
            <a:avLst>
              <a:gd name="adj" fmla="val 10938"/>
            </a:avLst>
          </a:prstGeom>
          <a:solidFill>
            <a:srgbClr val="FFFFFF"/>
          </a:solidFill>
          <a:ln w="9525">
            <a:solidFill>
              <a:srgbClr val="D3D1C7"/>
            </a:solidFill>
            <a:prstDash val="solid"/>
          </a:ln>
        </p:spPr>
      </p:sp>
      <p:sp>
        <p:nvSpPr>
          <p:cNvPr id="46" name="Shape 44"/>
          <p:cNvSpPr/>
          <p:nvPr/>
        </p:nvSpPr>
        <p:spPr>
          <a:xfrm>
            <a:off x="6537960" y="3218688"/>
            <a:ext cx="292608" cy="292608"/>
          </a:xfrm>
          <a:prstGeom prst="ellipse">
            <a:avLst/>
          </a:prstGeom>
          <a:solidFill>
            <a:srgbClr val="E1F5EE"/>
          </a:solidFill>
          <a:ln w="12700">
            <a:solidFill>
              <a:srgbClr val="1D9E75"/>
            </a:solidFill>
            <a:prstDash val="solid"/>
          </a:ln>
        </p:spPr>
      </p:sp>
      <p:sp>
        <p:nvSpPr>
          <p:cNvPr id="47" name="Text 45"/>
          <p:cNvSpPr txBox="1"/>
          <p:nvPr/>
        </p:nvSpPr>
        <p:spPr>
          <a:xfrm>
            <a:off x="6537960" y="3273552"/>
            <a:ext cx="292608" cy="201168"/>
          </a:xfrm>
          <a:prstGeom prst="rect">
            <a:avLst/>
          </a:prstGeom>
          <a:noFill/>
          <a:ln/>
        </p:spPr>
        <p:txBody>
          <a:bodyPr wrap="square" lIns="0" tIns="0" rIns="0" bIns="0" rtlCol="0" anchor="ctr"/>
          <a:lstStyle/>
          <a:p>
            <a:pPr marL="0" indent="0" algn="ctr">
              <a:buNone/>
            </a:pPr>
            <a:r>
              <a:rPr lang="en-US" sz="1050" b="1" dirty="0">
                <a:solidFill>
                  <a:srgbClr val="0F6E56"/>
                </a:solidFill>
                <a:latin typeface="Calibri" pitchFamily="34" charset="0"/>
                <a:ea typeface="Calibri" pitchFamily="34" charset="-122"/>
                <a:cs typeface="Calibri" pitchFamily="34" charset="-120"/>
              </a:rPr>
              <a:t>3</a:t>
            </a:r>
            <a:endParaRPr lang="en-US" sz="1050" dirty="0"/>
          </a:p>
        </p:txBody>
      </p:sp>
      <p:sp>
        <p:nvSpPr>
          <p:cNvPr id="48" name="Text 46"/>
          <p:cNvSpPr txBox="1"/>
          <p:nvPr/>
        </p:nvSpPr>
        <p:spPr>
          <a:xfrm>
            <a:off x="6967728" y="3136392"/>
            <a:ext cx="44805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Pattern diversity</a:t>
            </a:r>
            <a:endParaRPr lang="en-US" sz="1250" dirty="0"/>
          </a:p>
        </p:txBody>
      </p:sp>
      <p:sp>
        <p:nvSpPr>
          <p:cNvPr id="49" name="Text 47"/>
          <p:cNvSpPr txBox="1"/>
          <p:nvPr/>
        </p:nvSpPr>
        <p:spPr>
          <a:xfrm>
            <a:off x="6967728" y="3374136"/>
            <a:ext cx="448056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Five distinct failure modes signals a broken process, not a bad week</a:t>
            </a:r>
            <a:endParaRPr lang="en-US" sz="1000" dirty="0"/>
          </a:p>
        </p:txBody>
      </p:sp>
      <p:sp>
        <p:nvSpPr>
          <p:cNvPr id="50" name="Shape 48"/>
          <p:cNvSpPr/>
          <p:nvPr/>
        </p:nvSpPr>
        <p:spPr>
          <a:xfrm>
            <a:off x="6355080" y="3730752"/>
            <a:ext cx="5285232" cy="585216"/>
          </a:xfrm>
          <a:prstGeom prst="roundRect">
            <a:avLst>
              <a:gd name="adj" fmla="val 10938"/>
            </a:avLst>
          </a:prstGeom>
          <a:solidFill>
            <a:srgbClr val="FFFFFF"/>
          </a:solidFill>
          <a:ln w="9525">
            <a:solidFill>
              <a:srgbClr val="D3D1C7"/>
            </a:solidFill>
            <a:prstDash val="solid"/>
          </a:ln>
        </p:spPr>
      </p:sp>
      <p:sp>
        <p:nvSpPr>
          <p:cNvPr id="51" name="Shape 49"/>
          <p:cNvSpPr/>
          <p:nvPr/>
        </p:nvSpPr>
        <p:spPr>
          <a:xfrm>
            <a:off x="6537960" y="3877056"/>
            <a:ext cx="292608" cy="292608"/>
          </a:xfrm>
          <a:prstGeom prst="ellipse">
            <a:avLst/>
          </a:prstGeom>
          <a:solidFill>
            <a:srgbClr val="E1F5EE"/>
          </a:solidFill>
          <a:ln w="12700">
            <a:solidFill>
              <a:srgbClr val="1D9E75"/>
            </a:solidFill>
            <a:prstDash val="solid"/>
          </a:ln>
        </p:spPr>
      </p:sp>
      <p:sp>
        <p:nvSpPr>
          <p:cNvPr id="52" name="Text 50"/>
          <p:cNvSpPr txBox="1"/>
          <p:nvPr/>
        </p:nvSpPr>
        <p:spPr>
          <a:xfrm>
            <a:off x="6537960" y="3931920"/>
            <a:ext cx="292608" cy="201168"/>
          </a:xfrm>
          <a:prstGeom prst="rect">
            <a:avLst/>
          </a:prstGeom>
          <a:noFill/>
          <a:ln/>
        </p:spPr>
        <p:txBody>
          <a:bodyPr wrap="square" lIns="0" tIns="0" rIns="0" bIns="0" rtlCol="0" anchor="ctr"/>
          <a:lstStyle/>
          <a:p>
            <a:pPr marL="0" indent="0" algn="ctr">
              <a:buNone/>
            </a:pPr>
            <a:r>
              <a:rPr lang="en-US" sz="1050" b="1" dirty="0">
                <a:solidFill>
                  <a:srgbClr val="0F6E56"/>
                </a:solidFill>
                <a:latin typeface="Calibri" pitchFamily="34" charset="0"/>
                <a:ea typeface="Calibri" pitchFamily="34" charset="-122"/>
                <a:cs typeface="Calibri" pitchFamily="34" charset="-120"/>
              </a:rPr>
              <a:t>4</a:t>
            </a:r>
            <a:endParaRPr lang="en-US" sz="1050" dirty="0"/>
          </a:p>
        </p:txBody>
      </p:sp>
      <p:sp>
        <p:nvSpPr>
          <p:cNvPr id="53" name="Text 51"/>
          <p:cNvSpPr txBox="1"/>
          <p:nvPr/>
        </p:nvSpPr>
        <p:spPr>
          <a:xfrm>
            <a:off x="6967728" y="3794760"/>
            <a:ext cx="4480560" cy="237744"/>
          </a:xfrm>
          <a:prstGeom prst="rect">
            <a:avLst/>
          </a:prstGeom>
          <a:noFill/>
          <a:ln/>
        </p:spPr>
        <p:txBody>
          <a:bodyPr wrap="square" lIns="0" tIns="0" rIns="0" bIns="0" rtlCol="0" anchor="ctr"/>
          <a:lstStyle/>
          <a:p>
            <a:pPr marL="0" indent="0">
              <a:buNone/>
            </a:pPr>
            <a:r>
              <a:rPr lang="en-US" sz="1250" b="1" dirty="0">
                <a:solidFill>
                  <a:srgbClr val="0F6E56"/>
                </a:solidFill>
                <a:latin typeface="Calibri" pitchFamily="34" charset="0"/>
                <a:ea typeface="Calibri" pitchFamily="34" charset="-122"/>
                <a:cs typeface="Calibri" pitchFamily="34" charset="-120"/>
              </a:rPr>
              <a:t>Patient impact</a:t>
            </a:r>
            <a:endParaRPr lang="en-US" sz="1250" dirty="0"/>
          </a:p>
        </p:txBody>
      </p:sp>
      <p:sp>
        <p:nvSpPr>
          <p:cNvPr id="54" name="Text 52"/>
          <p:cNvSpPr txBox="1"/>
          <p:nvPr/>
        </p:nvSpPr>
        <p:spPr>
          <a:xfrm>
            <a:off x="6967728" y="4032504"/>
            <a:ext cx="4480560" cy="237744"/>
          </a:xfrm>
          <a:prstGeom prst="rect">
            <a:avLst/>
          </a:prstGeom>
          <a:noFill/>
          <a:ln/>
        </p:spPr>
        <p:txBody>
          <a:bodyPr wrap="square" lIns="0" tIns="0" rIns="0" bIns="0" rtlCol="0" anchor="ctr"/>
          <a:lstStyle/>
          <a:p>
            <a:pPr marL="0" indent="0">
              <a:buNone/>
            </a:pPr>
            <a:r>
              <a:rPr lang="en-US" sz="1000" dirty="0">
                <a:solidFill>
                  <a:srgbClr val="5F5E5A"/>
                </a:solidFill>
                <a:latin typeface="Calibri" pitchFamily="34" charset="0"/>
                <a:ea typeface="Calibri" pitchFamily="34" charset="-122"/>
                <a:cs typeface="Calibri" pitchFamily="34" charset="-120"/>
              </a:rPr>
              <a:t>Unique patients affected — what drives data-integrity exposure</a:t>
            </a:r>
            <a:endParaRPr lang="en-US" sz="1000" dirty="0"/>
          </a:p>
        </p:txBody>
      </p:sp>
      <p:sp>
        <p:nvSpPr>
          <p:cNvPr id="55" name="Shape 53"/>
          <p:cNvSpPr/>
          <p:nvPr/>
        </p:nvSpPr>
        <p:spPr>
          <a:xfrm>
            <a:off x="6355080" y="4480560"/>
            <a:ext cx="1252728" cy="777240"/>
          </a:xfrm>
          <a:prstGeom prst="roundRect">
            <a:avLst>
              <a:gd name="adj" fmla="val 8235"/>
            </a:avLst>
          </a:prstGeom>
          <a:solidFill>
            <a:srgbClr val="FAECE7"/>
          </a:solidFill>
          <a:ln w="9525">
            <a:solidFill>
              <a:srgbClr val="D85A30"/>
            </a:solidFill>
            <a:prstDash val="solid"/>
          </a:ln>
        </p:spPr>
      </p:sp>
      <p:sp>
        <p:nvSpPr>
          <p:cNvPr id="56" name="Text 54"/>
          <p:cNvSpPr txBox="1"/>
          <p:nvPr/>
        </p:nvSpPr>
        <p:spPr>
          <a:xfrm>
            <a:off x="6355080" y="4572000"/>
            <a:ext cx="1252728" cy="237744"/>
          </a:xfrm>
          <a:prstGeom prst="rect">
            <a:avLst/>
          </a:prstGeom>
          <a:noFill/>
          <a:ln/>
        </p:spPr>
        <p:txBody>
          <a:bodyPr wrap="square" lIns="0" tIns="0" rIns="0" bIns="0" rtlCol="0" anchor="ctr"/>
          <a:lstStyle/>
          <a:p>
            <a:pPr marL="0" indent="0" algn="ctr">
              <a:buNone/>
            </a:pPr>
            <a:r>
              <a:rPr lang="en-US" sz="1200" b="1" dirty="0">
                <a:solidFill>
                  <a:srgbClr val="993C1D"/>
                </a:solidFill>
                <a:latin typeface="Calibri" pitchFamily="34" charset="0"/>
                <a:ea typeface="Calibri" pitchFamily="34" charset="-122"/>
                <a:cs typeface="Calibri" pitchFamily="34" charset="-120"/>
              </a:rPr>
              <a:t>Critical</a:t>
            </a:r>
            <a:endParaRPr lang="en-US" sz="1200" dirty="0"/>
          </a:p>
        </p:txBody>
      </p:sp>
      <p:sp>
        <p:nvSpPr>
          <p:cNvPr id="57" name="Text 55"/>
          <p:cNvSpPr txBox="1"/>
          <p:nvPr/>
        </p:nvSpPr>
        <p:spPr>
          <a:xfrm>
            <a:off x="6355080" y="4846320"/>
            <a:ext cx="1252728" cy="274320"/>
          </a:xfrm>
          <a:prstGeom prst="rect">
            <a:avLst/>
          </a:prstGeom>
          <a:noFill/>
          <a:ln/>
        </p:spPr>
        <p:txBody>
          <a:bodyPr wrap="square" lIns="0" tIns="0" rIns="0" bIns="0" rtlCol="0" anchor="ctr"/>
          <a:lstStyle/>
          <a:p>
            <a:pPr marL="0" indent="0" algn="ctr">
              <a:buNone/>
            </a:pPr>
            <a:r>
              <a:rPr lang="en-US" sz="1400" b="1" dirty="0">
                <a:solidFill>
                  <a:srgbClr val="993C1D"/>
                </a:solidFill>
                <a:latin typeface="Cambria" pitchFamily="34" charset="0"/>
                <a:ea typeface="Cambria" pitchFamily="34" charset="-122"/>
                <a:cs typeface="Cambria" pitchFamily="34" charset="-120"/>
              </a:rPr>
              <a:t>76–100</a:t>
            </a:r>
            <a:endParaRPr lang="en-US" sz="1400" dirty="0"/>
          </a:p>
        </p:txBody>
      </p:sp>
      <p:sp>
        <p:nvSpPr>
          <p:cNvPr id="58" name="Shape 56"/>
          <p:cNvSpPr/>
          <p:nvPr/>
        </p:nvSpPr>
        <p:spPr>
          <a:xfrm>
            <a:off x="7699248" y="4480560"/>
            <a:ext cx="1252728" cy="777240"/>
          </a:xfrm>
          <a:prstGeom prst="roundRect">
            <a:avLst>
              <a:gd name="adj" fmla="val 8235"/>
            </a:avLst>
          </a:prstGeom>
          <a:solidFill>
            <a:srgbClr val="FAECE7"/>
          </a:solidFill>
          <a:ln w="9525">
            <a:solidFill>
              <a:srgbClr val="D85A30"/>
            </a:solidFill>
            <a:prstDash val="solid"/>
          </a:ln>
        </p:spPr>
      </p:sp>
      <p:sp>
        <p:nvSpPr>
          <p:cNvPr id="59" name="Text 57"/>
          <p:cNvSpPr txBox="1"/>
          <p:nvPr/>
        </p:nvSpPr>
        <p:spPr>
          <a:xfrm>
            <a:off x="7699248" y="4572000"/>
            <a:ext cx="1252728" cy="237744"/>
          </a:xfrm>
          <a:prstGeom prst="rect">
            <a:avLst/>
          </a:prstGeom>
          <a:noFill/>
          <a:ln/>
        </p:spPr>
        <p:txBody>
          <a:bodyPr wrap="square" lIns="0" tIns="0" rIns="0" bIns="0" rtlCol="0" anchor="ctr"/>
          <a:lstStyle/>
          <a:p>
            <a:pPr marL="0" indent="0" algn="ctr">
              <a:buNone/>
            </a:pPr>
            <a:r>
              <a:rPr lang="en-US" sz="1200" b="1" dirty="0">
                <a:solidFill>
                  <a:srgbClr val="993C1D"/>
                </a:solidFill>
                <a:latin typeface="Calibri" pitchFamily="34" charset="0"/>
                <a:ea typeface="Calibri" pitchFamily="34" charset="-122"/>
                <a:cs typeface="Calibri" pitchFamily="34" charset="-120"/>
              </a:rPr>
              <a:t>High</a:t>
            </a:r>
            <a:endParaRPr lang="en-US" sz="1200" dirty="0"/>
          </a:p>
        </p:txBody>
      </p:sp>
      <p:sp>
        <p:nvSpPr>
          <p:cNvPr id="60" name="Text 58"/>
          <p:cNvSpPr txBox="1"/>
          <p:nvPr/>
        </p:nvSpPr>
        <p:spPr>
          <a:xfrm>
            <a:off x="7699248" y="4846320"/>
            <a:ext cx="1252728" cy="274320"/>
          </a:xfrm>
          <a:prstGeom prst="rect">
            <a:avLst/>
          </a:prstGeom>
          <a:noFill/>
          <a:ln/>
        </p:spPr>
        <p:txBody>
          <a:bodyPr wrap="square" lIns="0" tIns="0" rIns="0" bIns="0" rtlCol="0" anchor="ctr"/>
          <a:lstStyle/>
          <a:p>
            <a:pPr marL="0" indent="0" algn="ctr">
              <a:buNone/>
            </a:pPr>
            <a:r>
              <a:rPr lang="en-US" sz="1400" b="1" dirty="0">
                <a:solidFill>
                  <a:srgbClr val="993C1D"/>
                </a:solidFill>
                <a:latin typeface="Cambria" pitchFamily="34" charset="0"/>
                <a:ea typeface="Cambria" pitchFamily="34" charset="-122"/>
                <a:cs typeface="Cambria" pitchFamily="34" charset="-120"/>
              </a:rPr>
              <a:t>51–75</a:t>
            </a:r>
            <a:endParaRPr lang="en-US" sz="1400" dirty="0"/>
          </a:p>
        </p:txBody>
      </p:sp>
      <p:sp>
        <p:nvSpPr>
          <p:cNvPr id="61" name="Shape 59"/>
          <p:cNvSpPr/>
          <p:nvPr/>
        </p:nvSpPr>
        <p:spPr>
          <a:xfrm>
            <a:off x="9043416" y="4480560"/>
            <a:ext cx="1252728" cy="777240"/>
          </a:xfrm>
          <a:prstGeom prst="roundRect">
            <a:avLst>
              <a:gd name="adj" fmla="val 8235"/>
            </a:avLst>
          </a:prstGeom>
          <a:solidFill>
            <a:srgbClr val="E1F5EE"/>
          </a:solidFill>
          <a:ln w="9525">
            <a:solidFill>
              <a:srgbClr val="1D9E75"/>
            </a:solidFill>
            <a:prstDash val="solid"/>
          </a:ln>
        </p:spPr>
      </p:sp>
      <p:sp>
        <p:nvSpPr>
          <p:cNvPr id="62" name="Text 60"/>
          <p:cNvSpPr txBox="1"/>
          <p:nvPr/>
        </p:nvSpPr>
        <p:spPr>
          <a:xfrm>
            <a:off x="9043416" y="4572000"/>
            <a:ext cx="1252728" cy="237744"/>
          </a:xfrm>
          <a:prstGeom prst="rect">
            <a:avLst/>
          </a:prstGeom>
          <a:noFill/>
          <a:ln/>
        </p:spPr>
        <p:txBody>
          <a:bodyPr wrap="square" lIns="0" tIns="0" rIns="0" bIns="0" rtlCol="0" anchor="ctr"/>
          <a:lstStyle/>
          <a:p>
            <a:pPr marL="0" indent="0" algn="ctr">
              <a:buNone/>
            </a:pPr>
            <a:r>
              <a:rPr lang="en-US" sz="1200" b="1" dirty="0">
                <a:solidFill>
                  <a:srgbClr val="0F6E56"/>
                </a:solidFill>
                <a:latin typeface="Calibri" pitchFamily="34" charset="0"/>
                <a:ea typeface="Calibri" pitchFamily="34" charset="-122"/>
                <a:cs typeface="Calibri" pitchFamily="34" charset="-120"/>
              </a:rPr>
              <a:t>Medium</a:t>
            </a:r>
            <a:endParaRPr lang="en-US" sz="1200" dirty="0"/>
          </a:p>
        </p:txBody>
      </p:sp>
      <p:sp>
        <p:nvSpPr>
          <p:cNvPr id="63" name="Text 61"/>
          <p:cNvSpPr txBox="1"/>
          <p:nvPr/>
        </p:nvSpPr>
        <p:spPr>
          <a:xfrm>
            <a:off x="9043416" y="4846320"/>
            <a:ext cx="1252728" cy="274320"/>
          </a:xfrm>
          <a:prstGeom prst="rect">
            <a:avLst/>
          </a:prstGeom>
          <a:noFill/>
          <a:ln/>
        </p:spPr>
        <p:txBody>
          <a:bodyPr wrap="square" lIns="0" tIns="0" rIns="0" bIns="0" rtlCol="0" anchor="ctr"/>
          <a:lstStyle/>
          <a:p>
            <a:pPr marL="0" indent="0" algn="ctr">
              <a:buNone/>
            </a:pPr>
            <a:r>
              <a:rPr lang="en-US" sz="1400" b="1" dirty="0">
                <a:solidFill>
                  <a:srgbClr val="0F6E56"/>
                </a:solidFill>
                <a:latin typeface="Cambria" pitchFamily="34" charset="0"/>
                <a:ea typeface="Cambria" pitchFamily="34" charset="-122"/>
                <a:cs typeface="Cambria" pitchFamily="34" charset="-120"/>
              </a:rPr>
              <a:t>26–50</a:t>
            </a:r>
            <a:endParaRPr lang="en-US" sz="1400" dirty="0"/>
          </a:p>
        </p:txBody>
      </p:sp>
      <p:sp>
        <p:nvSpPr>
          <p:cNvPr id="64" name="Shape 62"/>
          <p:cNvSpPr/>
          <p:nvPr/>
        </p:nvSpPr>
        <p:spPr>
          <a:xfrm>
            <a:off x="10387584" y="4480560"/>
            <a:ext cx="1252728" cy="777240"/>
          </a:xfrm>
          <a:prstGeom prst="roundRect">
            <a:avLst>
              <a:gd name="adj" fmla="val 8235"/>
            </a:avLst>
          </a:prstGeom>
          <a:solidFill>
            <a:srgbClr val="E1F5EE"/>
          </a:solidFill>
          <a:ln w="9525">
            <a:solidFill>
              <a:srgbClr val="1D9E75"/>
            </a:solidFill>
            <a:prstDash val="solid"/>
          </a:ln>
        </p:spPr>
      </p:sp>
      <p:sp>
        <p:nvSpPr>
          <p:cNvPr id="65" name="Text 63"/>
          <p:cNvSpPr txBox="1"/>
          <p:nvPr/>
        </p:nvSpPr>
        <p:spPr>
          <a:xfrm>
            <a:off x="10387584" y="4572000"/>
            <a:ext cx="1252728" cy="237744"/>
          </a:xfrm>
          <a:prstGeom prst="rect">
            <a:avLst/>
          </a:prstGeom>
          <a:noFill/>
          <a:ln/>
        </p:spPr>
        <p:txBody>
          <a:bodyPr wrap="square" lIns="0" tIns="0" rIns="0" bIns="0" rtlCol="0" anchor="ctr"/>
          <a:lstStyle/>
          <a:p>
            <a:pPr marL="0" indent="0" algn="ctr">
              <a:buNone/>
            </a:pPr>
            <a:r>
              <a:rPr lang="en-US" sz="1200" b="1" dirty="0">
                <a:solidFill>
                  <a:srgbClr val="0F6E56"/>
                </a:solidFill>
                <a:latin typeface="Calibri" pitchFamily="34" charset="0"/>
                <a:ea typeface="Calibri" pitchFamily="34" charset="-122"/>
                <a:cs typeface="Calibri" pitchFamily="34" charset="-120"/>
              </a:rPr>
              <a:t>Low</a:t>
            </a:r>
            <a:endParaRPr lang="en-US" sz="1200" dirty="0"/>
          </a:p>
        </p:txBody>
      </p:sp>
      <p:sp>
        <p:nvSpPr>
          <p:cNvPr id="66" name="Text 64"/>
          <p:cNvSpPr txBox="1"/>
          <p:nvPr/>
        </p:nvSpPr>
        <p:spPr>
          <a:xfrm>
            <a:off x="10387584" y="4846320"/>
            <a:ext cx="1252728" cy="274320"/>
          </a:xfrm>
          <a:prstGeom prst="rect">
            <a:avLst/>
          </a:prstGeom>
          <a:noFill/>
          <a:ln/>
        </p:spPr>
        <p:txBody>
          <a:bodyPr wrap="square" lIns="0" tIns="0" rIns="0" bIns="0" rtlCol="0" anchor="ctr"/>
          <a:lstStyle/>
          <a:p>
            <a:pPr marL="0" indent="0" algn="ctr">
              <a:buNone/>
            </a:pPr>
            <a:r>
              <a:rPr lang="en-US" sz="1400" b="1" dirty="0">
                <a:solidFill>
                  <a:srgbClr val="0F6E56"/>
                </a:solidFill>
                <a:latin typeface="Cambria" pitchFamily="34" charset="0"/>
                <a:ea typeface="Cambria" pitchFamily="34" charset="-122"/>
                <a:cs typeface="Cambria" pitchFamily="34" charset="-120"/>
              </a:rPr>
              <a:t>0–25</a:t>
            </a:r>
            <a:endParaRPr lang="en-US" sz="1400" dirty="0"/>
          </a:p>
        </p:txBody>
      </p:sp>
      <p:sp>
        <p:nvSpPr>
          <p:cNvPr id="67" name="Text 65"/>
          <p:cNvSpPr txBox="1"/>
          <p:nvPr/>
        </p:nvSpPr>
        <p:spPr>
          <a:xfrm>
            <a:off x="6355080" y="5440680"/>
            <a:ext cx="5285232" cy="822960"/>
          </a:xfrm>
          <a:prstGeom prst="rect">
            <a:avLst/>
          </a:prstGeom>
          <a:noFill/>
          <a:ln/>
        </p:spPr>
        <p:txBody>
          <a:bodyPr wrap="square" lIns="0" tIns="0" rIns="0" bIns="0" rtlCol="0" anchor="ctr"/>
          <a:lstStyle/>
          <a:p>
            <a:pPr marL="0" indent="0">
              <a:buNone/>
            </a:pPr>
            <a:r>
              <a:rPr lang="en-US" sz="1100" dirty="0">
                <a:solidFill>
                  <a:srgbClr val="5F5E5A"/>
                </a:solidFill>
                <a:latin typeface="Calibri" pitchFamily="34" charset="0"/>
                <a:ea typeface="Calibri" pitchFamily="34" charset="-122"/>
                <a:cs typeface="Calibri" pitchFamily="34" charset="-120"/>
              </a:rPr>
              <a:t>Each tier maps to a concrete action — Critical means on-site intervention and a CAPA within days; Low means routine cadence. In the current dataset SITE-004 scores 100/100: five deviation types, a worsening trend, 11 patients affected.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PRODUCT AND INTEGRATION</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CAPA reports, the dashboard, and IBM Bob</a:t>
            </a:r>
            <a:endParaRPr lang="en-US" sz="3100" dirty="0"/>
          </a:p>
        </p:txBody>
      </p:sp>
      <p:sp>
        <p:nvSpPr>
          <p:cNvPr id="4" name="Text 2"/>
          <p:cNvSpPr txBox="1"/>
          <p:nvPr/>
        </p:nvSpPr>
        <p:spPr>
          <a:xfrm>
            <a:off x="548640" y="1024128"/>
            <a:ext cx="11064240" cy="274320"/>
          </a:xfrm>
          <a:prstGeom prst="rect">
            <a:avLst/>
          </a:prstGeom>
          <a:noFill/>
          <a:ln/>
        </p:spPr>
        <p:txBody>
          <a:bodyPr wrap="square" lIns="0" tIns="0" rIns="0" bIns="0" rtlCol="0" anchor="ctr"/>
          <a:lstStyle/>
          <a:p>
            <a:pPr marL="0" indent="0">
              <a:buNone/>
            </a:pPr>
            <a:r>
              <a:rPr lang="en-US" sz="1400" dirty="0">
                <a:solidFill>
                  <a:srgbClr val="5F5E5A"/>
                </a:solidFill>
                <a:latin typeface="Calibri" pitchFamily="34" charset="0"/>
                <a:ea typeface="Calibri" pitchFamily="34" charset="-122"/>
                <a:cs typeface="Calibri" pitchFamily="34" charset="-120"/>
              </a:rPr>
              <a:t>One engine, three surfaces: a regulatory document generator, a dashboard for humans, and an MCP server for AI assistants.</a:t>
            </a:r>
            <a:endParaRPr lang="en-US" sz="1400" dirty="0"/>
          </a:p>
        </p:txBody>
      </p:sp>
      <p:sp>
        <p:nvSpPr>
          <p:cNvPr id="5" name="Shape 3"/>
          <p:cNvSpPr/>
          <p:nvPr/>
        </p:nvSpPr>
        <p:spPr>
          <a:xfrm>
            <a:off x="548640" y="1508760"/>
            <a:ext cx="3547872" cy="3886200"/>
          </a:xfrm>
          <a:prstGeom prst="roundRect">
            <a:avLst>
              <a:gd name="adj" fmla="val 1804"/>
            </a:avLst>
          </a:prstGeom>
          <a:solidFill>
            <a:srgbClr val="EEEDFE"/>
          </a:solidFill>
          <a:ln w="9525">
            <a:solidFill>
              <a:srgbClr val="7F77DD"/>
            </a:solidFill>
            <a:prstDash val="solid"/>
          </a:ln>
        </p:spPr>
      </p:sp>
      <p:sp>
        <p:nvSpPr>
          <p:cNvPr id="6" name="Text 4"/>
          <p:cNvSpPr txBox="1"/>
          <p:nvPr/>
        </p:nvSpPr>
        <p:spPr>
          <a:xfrm>
            <a:off x="777240" y="1627632"/>
            <a:ext cx="3108960" cy="274320"/>
          </a:xfrm>
          <a:prstGeom prst="rect">
            <a:avLst/>
          </a:prstGeom>
          <a:noFill/>
          <a:ln/>
        </p:spPr>
        <p:txBody>
          <a:bodyPr wrap="square" lIns="0" tIns="0" rIns="0" bIns="0" rtlCol="0" anchor="ctr"/>
          <a:lstStyle/>
          <a:p>
            <a:pPr marL="0" indent="0">
              <a:buNone/>
            </a:pPr>
            <a:r>
              <a:rPr lang="en-US" sz="1500" b="1" dirty="0">
                <a:solidFill>
                  <a:srgbClr val="534AB7"/>
                </a:solidFill>
                <a:latin typeface="Calibri" pitchFamily="34" charset="0"/>
                <a:ea typeface="Calibri" pitchFamily="34" charset="-122"/>
                <a:cs typeface="Calibri" pitchFamily="34" charset="-120"/>
              </a:rPr>
              <a:t>CAPA report generator</a:t>
            </a:r>
            <a:endParaRPr lang="en-US" sz="1500" dirty="0"/>
          </a:p>
        </p:txBody>
      </p:sp>
      <p:sp>
        <p:nvSpPr>
          <p:cNvPr id="7" name="Text 5"/>
          <p:cNvSpPr txBox="1"/>
          <p:nvPr/>
        </p:nvSpPr>
        <p:spPr>
          <a:xfrm>
            <a:off x="777240" y="1938528"/>
            <a:ext cx="3108960" cy="411480"/>
          </a:xfrm>
          <a:prstGeom prst="rect">
            <a:avLst/>
          </a:prstGeom>
          <a:noFill/>
          <a:ln/>
        </p:spPr>
        <p:txBody>
          <a:bodyPr wrap="square" lIns="0" tIns="0" rIns="0" bIns="0" rtlCol="0" anchor="ctr"/>
          <a:lstStyle/>
          <a:p>
            <a:pPr marL="0" indent="0">
              <a:buNone/>
            </a:pPr>
            <a:r>
              <a:rPr lang="en-US" sz="1050" dirty="0">
                <a:solidFill>
                  <a:srgbClr val="534AB7"/>
                </a:solidFill>
                <a:latin typeface="Calibri" pitchFamily="34" charset="0"/>
                <a:ea typeface="Calibri" pitchFamily="34" charset="-122"/>
                <a:cs typeface="Calibri" pitchFamily="34" charset="-120"/>
              </a:rPr>
              <a:t>The exact document auditors expect, in seconds rather than days:</a:t>
            </a:r>
            <a:endParaRPr lang="en-US" sz="1050" dirty="0"/>
          </a:p>
        </p:txBody>
      </p:sp>
      <p:sp>
        <p:nvSpPr>
          <p:cNvPr id="8" name="Text 6"/>
          <p:cNvSpPr txBox="1"/>
          <p:nvPr/>
        </p:nvSpPr>
        <p:spPr>
          <a:xfrm>
            <a:off x="777240" y="2395728"/>
            <a:ext cx="3108960" cy="2331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Executive summary</a:t>
            </a:r>
            <a:endParaRPr lang="en-US" sz="1050" dirty="0"/>
          </a:p>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Finding details with patient, visit and rule breached</a:t>
            </a:r>
            <a:endParaRPr lang="en-US" sz="1050" dirty="0"/>
          </a:p>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ICH E6(R2) GCP classification per finding</a:t>
            </a:r>
            <a:endParaRPr lang="en-US" sz="1050" dirty="0"/>
          </a:p>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Root cause analysis with contributing factors</a:t>
            </a:r>
            <a:endParaRPr lang="en-US" sz="1050" dirty="0"/>
          </a:p>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Corrective actions — owner and deadline each</a:t>
            </a:r>
            <a:endParaRPr lang="en-US" sz="1050" dirty="0"/>
          </a:p>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Preventive actions to stop recurrence</a:t>
            </a:r>
            <a:endParaRPr lang="en-US" sz="1050" dirty="0"/>
          </a:p>
          <a:p>
            <a:pPr marL="342900" indent="-342900">
              <a:lnSpc>
                <a:spcPct val="102000"/>
              </a:lnSpc>
              <a:spcAft>
                <a:spcPts val="600"/>
              </a:spcAft>
              <a:buSzPct val="100000"/>
              <a:buChar char="•"/>
            </a:pPr>
            <a:r>
              <a:rPr lang="en-US" sz="1050" dirty="0">
                <a:solidFill>
                  <a:srgbClr val="534AB7"/>
                </a:solidFill>
                <a:latin typeface="Calibri" pitchFamily="34" charset="0"/>
                <a:ea typeface="Calibri" pitchFamily="34" charset="-122"/>
                <a:cs typeface="Calibri" pitchFamily="34" charset="-120"/>
              </a:rPr>
              <a:t>Timeline and next review date</a:t>
            </a:r>
            <a:endParaRPr lang="en-US" sz="1050" dirty="0"/>
          </a:p>
        </p:txBody>
      </p:sp>
      <p:sp>
        <p:nvSpPr>
          <p:cNvPr id="9" name="Text 7"/>
          <p:cNvSpPr txBox="1"/>
          <p:nvPr/>
        </p:nvSpPr>
        <p:spPr>
          <a:xfrm>
            <a:off x="777240" y="4800600"/>
            <a:ext cx="3108960" cy="502920"/>
          </a:xfrm>
          <a:prstGeom prst="rect">
            <a:avLst/>
          </a:prstGeom>
          <a:noFill/>
          <a:ln/>
        </p:spPr>
        <p:txBody>
          <a:bodyPr wrap="square" lIns="0" tIns="0" rIns="0" bIns="0" rtlCol="0" anchor="ctr"/>
          <a:lstStyle/>
          <a:p>
            <a:pPr marL="0" indent="0">
              <a:buNone/>
            </a:pPr>
            <a:r>
              <a:rPr lang="en-US" sz="1000" i="1" dirty="0">
                <a:solidFill>
                  <a:srgbClr val="534AB7"/>
                </a:solidFill>
                <a:latin typeface="Cambria" pitchFamily="34" charset="0"/>
                <a:ea typeface="Cambria" pitchFamily="34" charset="-122"/>
                <a:cs typeface="Cambria" pitchFamily="34" charset="-120"/>
              </a:rPr>
              <a:t>watsonx.ai (Granite 3-8B) rewrites the summary and root-cause prose after the report is already assembled.</a:t>
            </a:r>
            <a:endParaRPr lang="en-US" sz="1000" dirty="0"/>
          </a:p>
        </p:txBody>
      </p:sp>
      <p:sp>
        <p:nvSpPr>
          <p:cNvPr id="10" name="Shape 8"/>
          <p:cNvSpPr/>
          <p:nvPr/>
        </p:nvSpPr>
        <p:spPr>
          <a:xfrm>
            <a:off x="4315968" y="1508760"/>
            <a:ext cx="3547872" cy="3886200"/>
          </a:xfrm>
          <a:prstGeom prst="roundRect">
            <a:avLst>
              <a:gd name="adj" fmla="val 1804"/>
            </a:avLst>
          </a:prstGeom>
          <a:solidFill>
            <a:srgbClr val="FFFFFF"/>
          </a:solidFill>
          <a:ln w="9525">
            <a:solidFill>
              <a:srgbClr val="D3D1C7"/>
            </a:solidFill>
            <a:prstDash val="solid"/>
          </a:ln>
        </p:spPr>
      </p:sp>
      <p:sp>
        <p:nvSpPr>
          <p:cNvPr id="11" name="Text 9"/>
          <p:cNvSpPr txBox="1"/>
          <p:nvPr/>
        </p:nvSpPr>
        <p:spPr>
          <a:xfrm>
            <a:off x="4544568" y="1627632"/>
            <a:ext cx="3108960" cy="274320"/>
          </a:xfrm>
          <a:prstGeom prst="rect">
            <a:avLst/>
          </a:prstGeom>
          <a:noFill/>
          <a:ln/>
        </p:spPr>
        <p:txBody>
          <a:bodyPr wrap="square" lIns="0" tIns="0" rIns="0" bIns="0" rtlCol="0" anchor="ctr"/>
          <a:lstStyle/>
          <a:p>
            <a:pPr marL="0" indent="0">
              <a:buNone/>
            </a:pPr>
            <a:r>
              <a:rPr lang="en-US" sz="1500" b="1" dirty="0">
                <a:solidFill>
                  <a:srgbClr val="2C2C2A"/>
                </a:solidFill>
                <a:latin typeface="Calibri" pitchFamily="34" charset="0"/>
                <a:ea typeface="Calibri" pitchFamily="34" charset="-122"/>
                <a:cs typeface="Calibri" pitchFamily="34" charset="-120"/>
              </a:rPr>
              <a:t>Dashboard — five views</a:t>
            </a:r>
            <a:endParaRPr lang="en-US" sz="1500" dirty="0"/>
          </a:p>
        </p:txBody>
      </p:sp>
      <p:sp>
        <p:nvSpPr>
          <p:cNvPr id="12" name="Text 10"/>
          <p:cNvSpPr txBox="1"/>
          <p:nvPr/>
        </p:nvSpPr>
        <p:spPr>
          <a:xfrm>
            <a:off x="4544568" y="1938528"/>
            <a:ext cx="3108960" cy="411480"/>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React 18, Vite and Recharts. Light and dark themes, fully responsive.</a:t>
            </a:r>
            <a:endParaRPr lang="en-US" sz="1050" dirty="0"/>
          </a:p>
        </p:txBody>
      </p:sp>
      <p:sp>
        <p:nvSpPr>
          <p:cNvPr id="13" name="Text 11"/>
          <p:cNvSpPr txBox="1"/>
          <p:nvPr/>
        </p:nvSpPr>
        <p:spPr>
          <a:xfrm>
            <a:off x="4544568" y="2450592"/>
            <a:ext cx="3108960" cy="219456"/>
          </a:xfrm>
          <a:prstGeom prst="rect">
            <a:avLst/>
          </a:prstGeom>
          <a:noFill/>
          <a:ln/>
        </p:spPr>
        <p:txBody>
          <a:bodyPr wrap="square" lIns="0" tIns="0" rIns="0" bIns="0" rtlCol="0" anchor="ctr"/>
          <a:lstStyle/>
          <a:p>
            <a:pPr marL="0" indent="0">
              <a:buNone/>
            </a:pPr>
            <a:r>
              <a:rPr lang="en-US" sz="1150" b="1" dirty="0">
                <a:solidFill>
                  <a:srgbClr val="0F6E56"/>
                </a:solidFill>
                <a:latin typeface="Calibri" pitchFamily="34" charset="0"/>
                <a:ea typeface="Calibri" pitchFamily="34" charset="-122"/>
                <a:cs typeface="Calibri" pitchFamily="34" charset="-120"/>
              </a:rPr>
              <a:t>Trial overview</a:t>
            </a:r>
            <a:endParaRPr lang="en-US" sz="1150" dirty="0"/>
          </a:p>
        </p:txBody>
      </p:sp>
      <p:sp>
        <p:nvSpPr>
          <p:cNvPr id="14" name="Text 12"/>
          <p:cNvSpPr txBox="1"/>
          <p:nvPr/>
        </p:nvSpPr>
        <p:spPr>
          <a:xfrm>
            <a:off x="4544568" y="2670048"/>
            <a:ext cx="3108960" cy="219456"/>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Stats, severity donut, monthly trend</a:t>
            </a:r>
            <a:endParaRPr lang="en-US" sz="950" dirty="0"/>
          </a:p>
        </p:txBody>
      </p:sp>
      <p:sp>
        <p:nvSpPr>
          <p:cNvPr id="15" name="Text 13"/>
          <p:cNvSpPr txBox="1"/>
          <p:nvPr/>
        </p:nvSpPr>
        <p:spPr>
          <a:xfrm>
            <a:off x="4544568" y="2926080"/>
            <a:ext cx="3108960" cy="219456"/>
          </a:xfrm>
          <a:prstGeom prst="rect">
            <a:avLst/>
          </a:prstGeom>
          <a:noFill/>
          <a:ln/>
        </p:spPr>
        <p:txBody>
          <a:bodyPr wrap="square" lIns="0" tIns="0" rIns="0" bIns="0" rtlCol="0" anchor="ctr"/>
          <a:lstStyle/>
          <a:p>
            <a:pPr marL="0" indent="0">
              <a:buNone/>
            </a:pPr>
            <a:r>
              <a:rPr lang="en-US" sz="1150" b="1" dirty="0">
                <a:solidFill>
                  <a:srgbClr val="0F6E56"/>
                </a:solidFill>
                <a:latin typeface="Calibri" pitchFamily="34" charset="0"/>
                <a:ea typeface="Calibri" pitchFamily="34" charset="-122"/>
                <a:cs typeface="Calibri" pitchFamily="34" charset="-120"/>
              </a:rPr>
              <a:t>Risk leaderboard</a:t>
            </a:r>
            <a:endParaRPr lang="en-US" sz="1150" dirty="0"/>
          </a:p>
        </p:txBody>
      </p:sp>
      <p:sp>
        <p:nvSpPr>
          <p:cNvPr id="16" name="Text 14"/>
          <p:cNvSpPr txBox="1"/>
          <p:nvPr/>
        </p:nvSpPr>
        <p:spPr>
          <a:xfrm>
            <a:off x="4544568" y="3145536"/>
            <a:ext cx="3108960" cy="219456"/>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All 210 sites ranked, worst first</a:t>
            </a:r>
            <a:endParaRPr lang="en-US" sz="950" dirty="0"/>
          </a:p>
        </p:txBody>
      </p:sp>
      <p:sp>
        <p:nvSpPr>
          <p:cNvPr id="17" name="Text 15"/>
          <p:cNvSpPr txBox="1"/>
          <p:nvPr/>
        </p:nvSpPr>
        <p:spPr>
          <a:xfrm>
            <a:off x="4544568" y="3401568"/>
            <a:ext cx="3108960" cy="219456"/>
          </a:xfrm>
          <a:prstGeom prst="rect">
            <a:avLst/>
          </a:prstGeom>
          <a:noFill/>
          <a:ln/>
        </p:spPr>
        <p:txBody>
          <a:bodyPr wrap="square" lIns="0" tIns="0" rIns="0" bIns="0" rtlCol="0" anchor="ctr"/>
          <a:lstStyle/>
          <a:p>
            <a:pPr marL="0" indent="0">
              <a:buNone/>
            </a:pPr>
            <a:r>
              <a:rPr lang="en-US" sz="1150" b="1" dirty="0">
                <a:solidFill>
                  <a:srgbClr val="0F6E56"/>
                </a:solidFill>
                <a:latin typeface="Calibri" pitchFamily="34" charset="0"/>
                <a:ea typeface="Calibri" pitchFamily="34" charset="-122"/>
                <a:cs typeface="Calibri" pitchFamily="34" charset="-120"/>
              </a:rPr>
              <a:t>Site detail</a:t>
            </a:r>
            <a:endParaRPr lang="en-US" sz="1150" dirty="0"/>
          </a:p>
        </p:txBody>
      </p:sp>
      <p:sp>
        <p:nvSpPr>
          <p:cNvPr id="18" name="Text 16"/>
          <p:cNvSpPr txBox="1"/>
          <p:nvPr/>
        </p:nvSpPr>
        <p:spPr>
          <a:xfrm>
            <a:off x="4544568" y="3621024"/>
            <a:ext cx="3108960" cy="219456"/>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Deviation history and risk factors</a:t>
            </a:r>
            <a:endParaRPr lang="en-US" sz="950" dirty="0"/>
          </a:p>
        </p:txBody>
      </p:sp>
      <p:sp>
        <p:nvSpPr>
          <p:cNvPr id="19" name="Text 17"/>
          <p:cNvSpPr txBox="1"/>
          <p:nvPr/>
        </p:nvSpPr>
        <p:spPr>
          <a:xfrm>
            <a:off x="4544568" y="3877056"/>
            <a:ext cx="3108960" cy="219456"/>
          </a:xfrm>
          <a:prstGeom prst="rect">
            <a:avLst/>
          </a:prstGeom>
          <a:noFill/>
          <a:ln/>
        </p:spPr>
        <p:txBody>
          <a:bodyPr wrap="square" lIns="0" tIns="0" rIns="0" bIns="0" rtlCol="0" anchor="ctr"/>
          <a:lstStyle/>
          <a:p>
            <a:pPr marL="0" indent="0">
              <a:buNone/>
            </a:pPr>
            <a:r>
              <a:rPr lang="en-US" sz="1150" b="1" dirty="0">
                <a:solidFill>
                  <a:srgbClr val="0F6E56"/>
                </a:solidFill>
                <a:latin typeface="Calibri" pitchFamily="34" charset="0"/>
                <a:ea typeface="Calibri" pitchFamily="34" charset="-122"/>
                <a:cs typeface="Calibri" pitchFamily="34" charset="-120"/>
              </a:rPr>
              <a:t>Deviation explorer</a:t>
            </a:r>
            <a:endParaRPr lang="en-US" sz="1150" dirty="0"/>
          </a:p>
        </p:txBody>
      </p:sp>
      <p:sp>
        <p:nvSpPr>
          <p:cNvPr id="20" name="Text 18"/>
          <p:cNvSpPr txBox="1"/>
          <p:nvPr/>
        </p:nvSpPr>
        <p:spPr>
          <a:xfrm>
            <a:off x="4544568" y="4096512"/>
            <a:ext cx="3108960" cy="219456"/>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Search and filter all 895 records</a:t>
            </a:r>
            <a:endParaRPr lang="en-US" sz="950" dirty="0"/>
          </a:p>
        </p:txBody>
      </p:sp>
      <p:sp>
        <p:nvSpPr>
          <p:cNvPr id="21" name="Text 19"/>
          <p:cNvSpPr txBox="1"/>
          <p:nvPr/>
        </p:nvSpPr>
        <p:spPr>
          <a:xfrm>
            <a:off x="4544568" y="4352544"/>
            <a:ext cx="3108960" cy="219456"/>
          </a:xfrm>
          <a:prstGeom prst="rect">
            <a:avLst/>
          </a:prstGeom>
          <a:noFill/>
          <a:ln/>
        </p:spPr>
        <p:txBody>
          <a:bodyPr wrap="square" lIns="0" tIns="0" rIns="0" bIns="0" rtlCol="0" anchor="ctr"/>
          <a:lstStyle/>
          <a:p>
            <a:pPr marL="0" indent="0">
              <a:buNone/>
            </a:pPr>
            <a:r>
              <a:rPr lang="en-US" sz="1150" b="1" dirty="0">
                <a:solidFill>
                  <a:srgbClr val="0F6E56"/>
                </a:solidFill>
                <a:latin typeface="Calibri" pitchFamily="34" charset="0"/>
                <a:ea typeface="Calibri" pitchFamily="34" charset="-122"/>
                <a:cs typeface="Calibri" pitchFamily="34" charset="-120"/>
              </a:rPr>
              <a:t>CAPA reports</a:t>
            </a:r>
            <a:endParaRPr lang="en-US" sz="1150" dirty="0"/>
          </a:p>
        </p:txBody>
      </p:sp>
      <p:sp>
        <p:nvSpPr>
          <p:cNvPr id="22" name="Text 20"/>
          <p:cNvSpPr txBox="1"/>
          <p:nvPr/>
        </p:nvSpPr>
        <p:spPr>
          <a:xfrm>
            <a:off x="4544568" y="4572000"/>
            <a:ext cx="3108960" cy="219456"/>
          </a:xfrm>
          <a:prstGeom prst="rect">
            <a:avLst/>
          </a:prstGeom>
          <a:noFill/>
          <a:ln/>
        </p:spPr>
        <p:txBody>
          <a:bodyPr wrap="square" lIns="0" tIns="0" rIns="0" bIns="0" rtlCol="0" anchor="ctr"/>
          <a:lstStyle/>
          <a:p>
            <a:pPr marL="0" indent="0">
              <a:buNone/>
            </a:pPr>
            <a:r>
              <a:rPr lang="en-US" sz="950" dirty="0">
                <a:solidFill>
                  <a:srgbClr val="5F5E5A"/>
                </a:solidFill>
                <a:latin typeface="Calibri" pitchFamily="34" charset="0"/>
                <a:ea typeface="Calibri" pitchFamily="34" charset="-122"/>
                <a:cs typeface="Calibri" pitchFamily="34" charset="-120"/>
              </a:rPr>
              <a:t>Generate and read any site's document</a:t>
            </a:r>
            <a:endParaRPr lang="en-US" sz="950" dirty="0"/>
          </a:p>
        </p:txBody>
      </p:sp>
      <p:sp>
        <p:nvSpPr>
          <p:cNvPr id="23" name="Text 21"/>
          <p:cNvSpPr txBox="1"/>
          <p:nvPr/>
        </p:nvSpPr>
        <p:spPr>
          <a:xfrm>
            <a:off x="4544568" y="4892040"/>
            <a:ext cx="3108960" cy="411480"/>
          </a:xfrm>
          <a:prstGeom prst="rect">
            <a:avLst/>
          </a:prstGeom>
          <a:noFill/>
          <a:ln/>
        </p:spPr>
        <p:txBody>
          <a:bodyPr wrap="square" lIns="0" tIns="0" rIns="0" bIns="0" rtlCol="0" anchor="ctr"/>
          <a:lstStyle/>
          <a:p>
            <a:pPr marL="0" indent="0">
              <a:buNone/>
            </a:pPr>
            <a:r>
              <a:rPr lang="en-US" sz="1000" i="1" dirty="0">
                <a:solidFill>
                  <a:srgbClr val="5F5E5A"/>
                </a:solidFill>
                <a:latin typeface="Cambria" pitchFamily="34" charset="0"/>
                <a:ea typeface="Cambria" pitchFamily="34" charset="-122"/>
                <a:cs typeface="Cambria" pitchFamily="34" charset="-120"/>
              </a:rPr>
              <a:t>Demo path: overview, leaderboard, SITE-004 detail, then generate its CAPA live.</a:t>
            </a:r>
            <a:endParaRPr lang="en-US" sz="1000" dirty="0"/>
          </a:p>
        </p:txBody>
      </p:sp>
      <p:sp>
        <p:nvSpPr>
          <p:cNvPr id="24" name="Shape 22"/>
          <p:cNvSpPr/>
          <p:nvPr/>
        </p:nvSpPr>
        <p:spPr>
          <a:xfrm>
            <a:off x="8083296" y="1508760"/>
            <a:ext cx="3557016" cy="3886200"/>
          </a:xfrm>
          <a:prstGeom prst="roundRect">
            <a:avLst>
              <a:gd name="adj" fmla="val 1799"/>
            </a:avLst>
          </a:prstGeom>
          <a:solidFill>
            <a:srgbClr val="E1F5EE"/>
          </a:solidFill>
          <a:ln w="9525">
            <a:solidFill>
              <a:srgbClr val="1D9E75"/>
            </a:solidFill>
            <a:prstDash val="solid"/>
          </a:ln>
        </p:spPr>
      </p:sp>
      <p:sp>
        <p:nvSpPr>
          <p:cNvPr id="25" name="Text 23"/>
          <p:cNvSpPr txBox="1"/>
          <p:nvPr/>
        </p:nvSpPr>
        <p:spPr>
          <a:xfrm>
            <a:off x="8311896" y="1627632"/>
            <a:ext cx="3108960" cy="274320"/>
          </a:xfrm>
          <a:prstGeom prst="rect">
            <a:avLst/>
          </a:prstGeom>
          <a:noFill/>
          <a:ln/>
        </p:spPr>
        <p:txBody>
          <a:bodyPr wrap="square" lIns="0" tIns="0" rIns="0" bIns="0" rtlCol="0" anchor="ctr"/>
          <a:lstStyle/>
          <a:p>
            <a:pPr marL="0" indent="0">
              <a:buNone/>
            </a:pPr>
            <a:r>
              <a:rPr lang="en-US" sz="1500" b="1" dirty="0">
                <a:solidFill>
                  <a:srgbClr val="0F6E56"/>
                </a:solidFill>
                <a:latin typeface="Calibri" pitchFamily="34" charset="0"/>
                <a:ea typeface="Calibri" pitchFamily="34" charset="-122"/>
                <a:cs typeface="Calibri" pitchFamily="34" charset="-120"/>
              </a:rPr>
              <a:t>IBM Bob — MCP server</a:t>
            </a:r>
            <a:endParaRPr lang="en-US" sz="1500" dirty="0"/>
          </a:p>
        </p:txBody>
      </p:sp>
      <p:sp>
        <p:nvSpPr>
          <p:cNvPr id="26" name="Text 24"/>
          <p:cNvSpPr txBox="1"/>
          <p:nvPr/>
        </p:nvSpPr>
        <p:spPr>
          <a:xfrm>
            <a:off x="8311896" y="1938528"/>
            <a:ext cx="3108960" cy="411480"/>
          </a:xfrm>
          <a:prstGeom prst="rect">
            <a:avLst/>
          </a:prstGeom>
          <a:noFill/>
          <a:ln/>
        </p:spPr>
        <p:txBody>
          <a:bodyPr wrap="square" lIns="0" tIns="0" rIns="0" bIns="0" rtlCol="0" anchor="ctr"/>
          <a:lstStyle/>
          <a:p>
            <a:pPr marL="0" indent="0">
              <a:buNone/>
            </a:pPr>
            <a:r>
              <a:rPr lang="en-US" sz="1050" dirty="0">
                <a:solidFill>
                  <a:srgbClr val="0F6E56"/>
                </a:solidFill>
                <a:latin typeface="Calibri" pitchFamily="34" charset="0"/>
                <a:ea typeface="Calibri" pitchFamily="34" charset="-122"/>
                <a:cs typeface="Calibri" pitchFamily="34" charset="-120"/>
              </a:rPr>
              <a:t>MCP Python SDK v2 over stdio. 5 tools, 4 resources, 2 prompts.</a:t>
            </a:r>
            <a:endParaRPr lang="en-US" sz="1050" dirty="0"/>
          </a:p>
        </p:txBody>
      </p:sp>
      <p:sp>
        <p:nvSpPr>
          <p:cNvPr id="27" name="Text 25"/>
          <p:cNvSpPr txBox="1"/>
          <p:nvPr/>
        </p:nvSpPr>
        <p:spPr>
          <a:xfrm>
            <a:off x="8311896" y="2450592"/>
            <a:ext cx="3108960" cy="219456"/>
          </a:xfrm>
          <a:prstGeom prst="rect">
            <a:avLst/>
          </a:prstGeom>
          <a:noFill/>
          <a:ln/>
        </p:spPr>
        <p:txBody>
          <a:bodyPr wrap="square" lIns="0" tIns="0" rIns="0" bIns="0" rtlCol="0" anchor="ctr"/>
          <a:lstStyle/>
          <a:p>
            <a:pPr marL="0" indent="0">
              <a:buNone/>
            </a:pPr>
            <a:r>
              <a:rPr lang="en-US" sz="1000" b="1" dirty="0">
                <a:solidFill>
                  <a:srgbClr val="0F6E56"/>
                </a:solidFill>
                <a:latin typeface="Courier New" pitchFamily="34" charset="0"/>
                <a:ea typeface="Courier New" pitchFamily="34" charset="-122"/>
                <a:cs typeface="Courier New" pitchFamily="34" charset="-120"/>
              </a:rPr>
              <a:t>detect_deviations()</a:t>
            </a:r>
            <a:endParaRPr lang="en-US" sz="1000" dirty="0"/>
          </a:p>
        </p:txBody>
      </p:sp>
      <p:sp>
        <p:nvSpPr>
          <p:cNvPr id="28" name="Text 26"/>
          <p:cNvSpPr txBox="1"/>
          <p:nvPr/>
        </p:nvSpPr>
        <p:spPr>
          <a:xfrm>
            <a:off x="8311896" y="2679192"/>
            <a:ext cx="3108960" cy="219456"/>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Violations at a site</a:t>
            </a:r>
            <a:endParaRPr lang="en-US" sz="950" dirty="0"/>
          </a:p>
        </p:txBody>
      </p:sp>
      <p:sp>
        <p:nvSpPr>
          <p:cNvPr id="29" name="Text 27"/>
          <p:cNvSpPr txBox="1"/>
          <p:nvPr/>
        </p:nvSpPr>
        <p:spPr>
          <a:xfrm>
            <a:off x="8311896" y="2926080"/>
            <a:ext cx="3108960" cy="219456"/>
          </a:xfrm>
          <a:prstGeom prst="rect">
            <a:avLst/>
          </a:prstGeom>
          <a:noFill/>
          <a:ln/>
        </p:spPr>
        <p:txBody>
          <a:bodyPr wrap="square" lIns="0" tIns="0" rIns="0" bIns="0" rtlCol="0" anchor="ctr"/>
          <a:lstStyle/>
          <a:p>
            <a:pPr marL="0" indent="0">
              <a:buNone/>
            </a:pPr>
            <a:r>
              <a:rPr lang="en-US" sz="1000" b="1" dirty="0">
                <a:solidFill>
                  <a:srgbClr val="0F6E56"/>
                </a:solidFill>
                <a:latin typeface="Courier New" pitchFamily="34" charset="0"/>
                <a:ea typeface="Courier New" pitchFamily="34" charset="-122"/>
                <a:cs typeface="Courier New" pitchFamily="34" charset="-120"/>
              </a:rPr>
              <a:t>get_site_risk()</a:t>
            </a:r>
            <a:endParaRPr lang="en-US" sz="1000" dirty="0"/>
          </a:p>
        </p:txBody>
      </p:sp>
      <p:sp>
        <p:nvSpPr>
          <p:cNvPr id="30" name="Text 28"/>
          <p:cNvSpPr txBox="1"/>
          <p:nvPr/>
        </p:nvSpPr>
        <p:spPr>
          <a:xfrm>
            <a:off x="8311896" y="3154680"/>
            <a:ext cx="3108960" cy="219456"/>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Score, tier, factors</a:t>
            </a:r>
            <a:endParaRPr lang="en-US" sz="950" dirty="0"/>
          </a:p>
        </p:txBody>
      </p:sp>
      <p:sp>
        <p:nvSpPr>
          <p:cNvPr id="31" name="Text 29"/>
          <p:cNvSpPr txBox="1"/>
          <p:nvPr/>
        </p:nvSpPr>
        <p:spPr>
          <a:xfrm>
            <a:off x="8311896" y="3401568"/>
            <a:ext cx="3108960" cy="219456"/>
          </a:xfrm>
          <a:prstGeom prst="rect">
            <a:avLst/>
          </a:prstGeom>
          <a:noFill/>
          <a:ln/>
        </p:spPr>
        <p:txBody>
          <a:bodyPr wrap="square" lIns="0" tIns="0" rIns="0" bIns="0" rtlCol="0" anchor="ctr"/>
          <a:lstStyle/>
          <a:p>
            <a:pPr marL="0" indent="0">
              <a:buNone/>
            </a:pPr>
            <a:r>
              <a:rPr lang="en-US" sz="1000" b="1" dirty="0">
                <a:solidFill>
                  <a:srgbClr val="0F6E56"/>
                </a:solidFill>
                <a:latin typeface="Courier New" pitchFamily="34" charset="0"/>
                <a:ea typeface="Courier New" pitchFamily="34" charset="-122"/>
                <a:cs typeface="Courier New" pitchFamily="34" charset="-120"/>
              </a:rPr>
              <a:t>generate_capa_report()</a:t>
            </a:r>
            <a:endParaRPr lang="en-US" sz="1000" dirty="0"/>
          </a:p>
        </p:txBody>
      </p:sp>
      <p:sp>
        <p:nvSpPr>
          <p:cNvPr id="32" name="Text 30"/>
          <p:cNvSpPr txBox="1"/>
          <p:nvPr/>
        </p:nvSpPr>
        <p:spPr>
          <a:xfrm>
            <a:off x="8311896" y="3630168"/>
            <a:ext cx="3108960" cy="219456"/>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Full document</a:t>
            </a:r>
            <a:endParaRPr lang="en-US" sz="950" dirty="0"/>
          </a:p>
        </p:txBody>
      </p:sp>
      <p:sp>
        <p:nvSpPr>
          <p:cNvPr id="33" name="Text 31"/>
          <p:cNvSpPr txBox="1"/>
          <p:nvPr/>
        </p:nvSpPr>
        <p:spPr>
          <a:xfrm>
            <a:off x="8311896" y="3877056"/>
            <a:ext cx="3108960" cy="219456"/>
          </a:xfrm>
          <a:prstGeom prst="rect">
            <a:avLst/>
          </a:prstGeom>
          <a:noFill/>
          <a:ln/>
        </p:spPr>
        <p:txBody>
          <a:bodyPr wrap="square" lIns="0" tIns="0" rIns="0" bIns="0" rtlCol="0" anchor="ctr"/>
          <a:lstStyle/>
          <a:p>
            <a:pPr marL="0" indent="0">
              <a:buNone/>
            </a:pPr>
            <a:r>
              <a:rPr lang="en-US" sz="1000" b="1" dirty="0">
                <a:solidFill>
                  <a:srgbClr val="0F6E56"/>
                </a:solidFill>
                <a:latin typeface="Courier New" pitchFamily="34" charset="0"/>
                <a:ea typeface="Courier New" pitchFamily="34" charset="-122"/>
                <a:cs typeface="Courier New" pitchFamily="34" charset="-120"/>
              </a:rPr>
              <a:t>compare_sites()</a:t>
            </a:r>
            <a:endParaRPr lang="en-US" sz="1000" dirty="0"/>
          </a:p>
        </p:txBody>
      </p:sp>
      <p:sp>
        <p:nvSpPr>
          <p:cNvPr id="34" name="Text 32"/>
          <p:cNvSpPr txBox="1"/>
          <p:nvPr/>
        </p:nvSpPr>
        <p:spPr>
          <a:xfrm>
            <a:off x="8311896" y="4105656"/>
            <a:ext cx="3108960" cy="219456"/>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Side-by-side risk</a:t>
            </a:r>
            <a:endParaRPr lang="en-US" sz="950" dirty="0"/>
          </a:p>
        </p:txBody>
      </p:sp>
      <p:sp>
        <p:nvSpPr>
          <p:cNvPr id="35" name="Text 33"/>
          <p:cNvSpPr txBox="1"/>
          <p:nvPr/>
        </p:nvSpPr>
        <p:spPr>
          <a:xfrm>
            <a:off x="8311896" y="4352544"/>
            <a:ext cx="3108960" cy="219456"/>
          </a:xfrm>
          <a:prstGeom prst="rect">
            <a:avLst/>
          </a:prstGeom>
          <a:noFill/>
          <a:ln/>
        </p:spPr>
        <p:txBody>
          <a:bodyPr wrap="square" lIns="0" tIns="0" rIns="0" bIns="0" rtlCol="0" anchor="ctr"/>
          <a:lstStyle/>
          <a:p>
            <a:pPr marL="0" indent="0">
              <a:buNone/>
            </a:pPr>
            <a:r>
              <a:rPr lang="en-US" sz="1000" b="1" dirty="0">
                <a:solidFill>
                  <a:srgbClr val="0F6E56"/>
                </a:solidFill>
                <a:latin typeface="Courier New" pitchFamily="34" charset="0"/>
                <a:ea typeface="Courier New" pitchFamily="34" charset="-122"/>
                <a:cs typeface="Courier New" pitchFamily="34" charset="-120"/>
              </a:rPr>
              <a:t>get_trial_summary()</a:t>
            </a:r>
            <a:endParaRPr lang="en-US" sz="1000" dirty="0"/>
          </a:p>
        </p:txBody>
      </p:sp>
      <p:sp>
        <p:nvSpPr>
          <p:cNvPr id="36" name="Text 34"/>
          <p:cNvSpPr txBox="1"/>
          <p:nvPr/>
        </p:nvSpPr>
        <p:spPr>
          <a:xfrm>
            <a:off x="8311896" y="4581144"/>
            <a:ext cx="3108960" cy="219456"/>
          </a:xfrm>
          <a:prstGeom prst="rect">
            <a:avLst/>
          </a:prstGeom>
          <a:noFill/>
          <a:ln/>
        </p:spPr>
        <p:txBody>
          <a:bodyPr wrap="square" lIns="0" tIns="0" rIns="0" bIns="0" rtlCol="0" anchor="ctr"/>
          <a:lstStyle/>
          <a:p>
            <a:pPr marL="0" indent="0">
              <a:buNone/>
            </a:pPr>
            <a:r>
              <a:rPr lang="en-US" sz="950" dirty="0">
                <a:solidFill>
                  <a:srgbClr val="0F6E56"/>
                </a:solidFill>
                <a:latin typeface="Calibri" pitchFamily="34" charset="0"/>
                <a:ea typeface="Calibri" pitchFamily="34" charset="-122"/>
                <a:cs typeface="Calibri" pitchFamily="34" charset="-120"/>
              </a:rPr>
              <a:t>Trial-wide stats</a:t>
            </a:r>
            <a:endParaRPr lang="en-US" sz="950" dirty="0"/>
          </a:p>
        </p:txBody>
      </p:sp>
      <p:sp>
        <p:nvSpPr>
          <p:cNvPr id="37" name="Text 35"/>
          <p:cNvSpPr txBox="1"/>
          <p:nvPr/>
        </p:nvSpPr>
        <p:spPr>
          <a:xfrm>
            <a:off x="8311896" y="4892040"/>
            <a:ext cx="3108960" cy="411480"/>
          </a:xfrm>
          <a:prstGeom prst="rect">
            <a:avLst/>
          </a:prstGeom>
          <a:noFill/>
          <a:ln/>
        </p:spPr>
        <p:txBody>
          <a:bodyPr wrap="square" lIns="0" tIns="0" rIns="0" bIns="0" rtlCol="0" anchor="ctr"/>
          <a:lstStyle/>
          <a:p>
            <a:pPr marL="0" indent="0">
              <a:buNone/>
            </a:pPr>
            <a:r>
              <a:rPr lang="en-US" sz="1000" i="1" dirty="0">
                <a:solidFill>
                  <a:srgbClr val="0F6E56"/>
                </a:solidFill>
                <a:latin typeface="Cambria" pitchFamily="34" charset="0"/>
                <a:ea typeface="Cambria" pitchFamily="34" charset="-122"/>
                <a:cs typeface="Cambria" pitchFamily="34" charset="-120"/>
              </a:rPr>
              <a:t>Bob is a parallel interface to the same engine, not a chat layer over the dashboard.</a:t>
            </a:r>
            <a:endParaRPr lang="en-US" sz="1000" dirty="0"/>
          </a:p>
        </p:txBody>
      </p:sp>
      <p:sp>
        <p:nvSpPr>
          <p:cNvPr id="38" name="Text 36"/>
          <p:cNvSpPr txBox="1"/>
          <p:nvPr/>
        </p:nvSpPr>
        <p:spPr>
          <a:xfrm>
            <a:off x="548640" y="5623560"/>
            <a:ext cx="11091672" cy="365760"/>
          </a:xfrm>
          <a:prstGeom prst="rect">
            <a:avLst/>
          </a:prstGeom>
          <a:noFill/>
          <a:ln/>
        </p:spPr>
        <p:txBody>
          <a:bodyPr wrap="square" lIns="0" tIns="0" rIns="0" bIns="0" rtlCol="0" anchor="ctr"/>
          <a:lstStyle/>
          <a:p>
            <a:pPr marL="0" indent="0">
              <a:buNone/>
            </a:pPr>
            <a:r>
              <a:rPr lang="en-US" sz="1250" i="1" dirty="0">
                <a:solidFill>
                  <a:srgbClr val="2C2C2A"/>
                </a:solidFill>
                <a:latin typeface="Cambria" pitchFamily="34" charset="0"/>
                <a:ea typeface="Cambria" pitchFamily="34" charset="-122"/>
                <a:cs typeface="Cambria" pitchFamily="34" charset="-120"/>
              </a:rPr>
              <a:t>Remove watsonx entirely and every deviation is still detected, every site still scored, every report still generated. Only the prose gets plainer.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UNDER THE HOOD</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Technical architecture</a:t>
            </a:r>
            <a:endParaRPr lang="en-US" sz="3100" dirty="0"/>
          </a:p>
        </p:txBody>
      </p:sp>
      <p:sp>
        <p:nvSpPr>
          <p:cNvPr id="4" name="Shape 2"/>
          <p:cNvSpPr/>
          <p:nvPr/>
        </p:nvSpPr>
        <p:spPr>
          <a:xfrm>
            <a:off x="1371600" y="1188720"/>
            <a:ext cx="4480560" cy="502920"/>
          </a:xfrm>
          <a:prstGeom prst="roundRect">
            <a:avLst>
              <a:gd name="adj" fmla="val 12727"/>
            </a:avLst>
          </a:prstGeom>
          <a:solidFill>
            <a:srgbClr val="EEEDFE"/>
          </a:solidFill>
          <a:ln w="9525">
            <a:solidFill>
              <a:srgbClr val="7F77DD"/>
            </a:solidFill>
            <a:prstDash val="solid"/>
          </a:ln>
        </p:spPr>
      </p:sp>
      <p:sp>
        <p:nvSpPr>
          <p:cNvPr id="5" name="Text 3"/>
          <p:cNvSpPr txBox="1"/>
          <p:nvPr/>
        </p:nvSpPr>
        <p:spPr>
          <a:xfrm>
            <a:off x="1371600" y="1252728"/>
            <a:ext cx="4480560" cy="237744"/>
          </a:xfrm>
          <a:prstGeom prst="rect">
            <a:avLst/>
          </a:prstGeom>
          <a:noFill/>
          <a:ln/>
        </p:spPr>
        <p:txBody>
          <a:bodyPr wrap="square" lIns="0" tIns="0" rIns="0" bIns="0" rtlCol="0" anchor="ctr"/>
          <a:lstStyle/>
          <a:p>
            <a:pPr marL="0" indent="0" algn="ctr">
              <a:buNone/>
            </a:pPr>
            <a:r>
              <a:rPr lang="en-US" sz="1250" b="1" dirty="0">
                <a:solidFill>
                  <a:srgbClr val="534AB7"/>
                </a:solidFill>
                <a:latin typeface="Calibri" pitchFamily="34" charset="0"/>
                <a:ea typeface="Calibri" pitchFamily="34" charset="-122"/>
                <a:cs typeface="Calibri" pitchFamily="34" charset="-120"/>
              </a:rPr>
              <a:t>React dashboard</a:t>
            </a:r>
            <a:endParaRPr lang="en-US" sz="1250" dirty="0"/>
          </a:p>
        </p:txBody>
      </p:sp>
      <p:sp>
        <p:nvSpPr>
          <p:cNvPr id="6" name="Text 4"/>
          <p:cNvSpPr txBox="1"/>
          <p:nvPr/>
        </p:nvSpPr>
        <p:spPr>
          <a:xfrm>
            <a:off x="1371600" y="1472184"/>
            <a:ext cx="4480560" cy="219456"/>
          </a:xfrm>
          <a:prstGeom prst="rect">
            <a:avLst/>
          </a:prstGeom>
          <a:noFill/>
          <a:ln/>
        </p:spPr>
        <p:txBody>
          <a:bodyPr wrap="square" lIns="0" tIns="0" rIns="0" bIns="0" rtlCol="0" anchor="ctr"/>
          <a:lstStyle/>
          <a:p>
            <a:pPr marL="0" indent="0" algn="ctr">
              <a:buNone/>
            </a:pPr>
            <a:r>
              <a:rPr lang="en-US" sz="1000" dirty="0">
                <a:solidFill>
                  <a:srgbClr val="534AB7"/>
                </a:solidFill>
                <a:latin typeface="Calibri" pitchFamily="34" charset="0"/>
                <a:ea typeface="Calibri" pitchFamily="34" charset="-122"/>
                <a:cs typeface="Calibri" pitchFamily="34" charset="-120"/>
              </a:rPr>
              <a:t>Vite · Recharts · React Router</a:t>
            </a:r>
            <a:endParaRPr lang="en-US" sz="1000" dirty="0"/>
          </a:p>
        </p:txBody>
      </p:sp>
      <p:sp>
        <p:nvSpPr>
          <p:cNvPr id="7" name="Shape 5"/>
          <p:cNvSpPr/>
          <p:nvPr/>
        </p:nvSpPr>
        <p:spPr>
          <a:xfrm>
            <a:off x="6309360" y="1188720"/>
            <a:ext cx="4480560" cy="502920"/>
          </a:xfrm>
          <a:prstGeom prst="roundRect">
            <a:avLst>
              <a:gd name="adj" fmla="val 12727"/>
            </a:avLst>
          </a:prstGeom>
          <a:solidFill>
            <a:srgbClr val="EEEDFE"/>
          </a:solidFill>
          <a:ln w="9525">
            <a:solidFill>
              <a:srgbClr val="7F77DD"/>
            </a:solidFill>
            <a:prstDash val="solid"/>
          </a:ln>
        </p:spPr>
      </p:sp>
      <p:sp>
        <p:nvSpPr>
          <p:cNvPr id="8" name="Text 6"/>
          <p:cNvSpPr txBox="1"/>
          <p:nvPr/>
        </p:nvSpPr>
        <p:spPr>
          <a:xfrm>
            <a:off x="6309360" y="1252728"/>
            <a:ext cx="4480560" cy="237744"/>
          </a:xfrm>
          <a:prstGeom prst="rect">
            <a:avLst/>
          </a:prstGeom>
          <a:noFill/>
          <a:ln/>
        </p:spPr>
        <p:txBody>
          <a:bodyPr wrap="square" lIns="0" tIns="0" rIns="0" bIns="0" rtlCol="0" anchor="ctr"/>
          <a:lstStyle/>
          <a:p>
            <a:pPr marL="0" indent="0" algn="ctr">
              <a:buNone/>
            </a:pPr>
            <a:r>
              <a:rPr lang="en-US" sz="1250" b="1" dirty="0">
                <a:solidFill>
                  <a:srgbClr val="534AB7"/>
                </a:solidFill>
                <a:latin typeface="Calibri" pitchFamily="34" charset="0"/>
                <a:ea typeface="Calibri" pitchFamily="34" charset="-122"/>
                <a:cs typeface="Calibri" pitchFamily="34" charset="-120"/>
              </a:rPr>
              <a:t>IBM Bob assistant</a:t>
            </a:r>
            <a:endParaRPr lang="en-US" sz="1250" dirty="0"/>
          </a:p>
        </p:txBody>
      </p:sp>
      <p:sp>
        <p:nvSpPr>
          <p:cNvPr id="9" name="Text 7"/>
          <p:cNvSpPr txBox="1"/>
          <p:nvPr/>
        </p:nvSpPr>
        <p:spPr>
          <a:xfrm>
            <a:off x="6309360" y="1472184"/>
            <a:ext cx="4480560" cy="219456"/>
          </a:xfrm>
          <a:prstGeom prst="rect">
            <a:avLst/>
          </a:prstGeom>
          <a:noFill/>
          <a:ln/>
        </p:spPr>
        <p:txBody>
          <a:bodyPr wrap="square" lIns="0" tIns="0" rIns="0" bIns="0" rtlCol="0" anchor="ctr"/>
          <a:lstStyle/>
          <a:p>
            <a:pPr marL="0" indent="0" algn="ctr">
              <a:buNone/>
            </a:pPr>
            <a:r>
              <a:rPr lang="en-US" sz="1000" dirty="0">
                <a:solidFill>
                  <a:srgbClr val="534AB7"/>
                </a:solidFill>
                <a:latin typeface="Calibri" pitchFamily="34" charset="0"/>
                <a:ea typeface="Calibri" pitchFamily="34" charset="-122"/>
                <a:cs typeface="Calibri" pitchFamily="34" charset="-120"/>
              </a:rPr>
              <a:t>Conversational auditor interface</a:t>
            </a:r>
            <a:endParaRPr lang="en-US" sz="1000" dirty="0"/>
          </a:p>
        </p:txBody>
      </p:sp>
      <p:sp>
        <p:nvSpPr>
          <p:cNvPr id="10" name="Shape 8"/>
          <p:cNvSpPr/>
          <p:nvPr/>
        </p:nvSpPr>
        <p:spPr>
          <a:xfrm>
            <a:off x="3611880" y="1691640"/>
            <a:ext cx="0" cy="246888"/>
          </a:xfrm>
          <a:prstGeom prst="line">
            <a:avLst/>
          </a:prstGeom>
          <a:noFill/>
          <a:ln w="12700">
            <a:solidFill>
              <a:srgbClr val="888780"/>
            </a:solidFill>
            <a:prstDash val="solid"/>
            <a:tailEnd type="triangle"/>
          </a:ln>
        </p:spPr>
      </p:sp>
      <p:sp>
        <p:nvSpPr>
          <p:cNvPr id="11" name="Shape 9"/>
          <p:cNvSpPr/>
          <p:nvPr/>
        </p:nvSpPr>
        <p:spPr>
          <a:xfrm>
            <a:off x="8549640" y="1691640"/>
            <a:ext cx="0" cy="246888"/>
          </a:xfrm>
          <a:prstGeom prst="line">
            <a:avLst/>
          </a:prstGeom>
          <a:noFill/>
          <a:ln w="12700">
            <a:solidFill>
              <a:srgbClr val="888780"/>
            </a:solidFill>
            <a:prstDash val="solid"/>
            <a:tailEnd type="triangle"/>
          </a:ln>
        </p:spPr>
      </p:sp>
      <p:sp>
        <p:nvSpPr>
          <p:cNvPr id="12" name="Shape 10"/>
          <p:cNvSpPr/>
          <p:nvPr/>
        </p:nvSpPr>
        <p:spPr>
          <a:xfrm>
            <a:off x="1371600" y="1938528"/>
            <a:ext cx="4480560" cy="502920"/>
          </a:xfrm>
          <a:prstGeom prst="roundRect">
            <a:avLst>
              <a:gd name="adj" fmla="val 12727"/>
            </a:avLst>
          </a:prstGeom>
          <a:solidFill>
            <a:srgbClr val="EEEDFE"/>
          </a:solidFill>
          <a:ln w="9525">
            <a:solidFill>
              <a:srgbClr val="7F77DD"/>
            </a:solidFill>
            <a:prstDash val="solid"/>
          </a:ln>
        </p:spPr>
      </p:sp>
      <p:sp>
        <p:nvSpPr>
          <p:cNvPr id="13" name="Text 11"/>
          <p:cNvSpPr txBox="1"/>
          <p:nvPr/>
        </p:nvSpPr>
        <p:spPr>
          <a:xfrm>
            <a:off x="1371600" y="2002536"/>
            <a:ext cx="4480560" cy="237744"/>
          </a:xfrm>
          <a:prstGeom prst="rect">
            <a:avLst/>
          </a:prstGeom>
          <a:noFill/>
          <a:ln/>
        </p:spPr>
        <p:txBody>
          <a:bodyPr wrap="square" lIns="0" tIns="0" rIns="0" bIns="0" rtlCol="0" anchor="ctr"/>
          <a:lstStyle/>
          <a:p>
            <a:pPr marL="0" indent="0" algn="ctr">
              <a:buNone/>
            </a:pPr>
            <a:r>
              <a:rPr lang="en-US" sz="1250" b="1" dirty="0">
                <a:solidFill>
                  <a:srgbClr val="534AB7"/>
                </a:solidFill>
                <a:latin typeface="Calibri" pitchFamily="34" charset="0"/>
                <a:ea typeface="Calibri" pitchFamily="34" charset="-122"/>
                <a:cs typeface="Calibri" pitchFamily="34" charset="-120"/>
              </a:rPr>
              <a:t>FastAPI REST API</a:t>
            </a:r>
            <a:endParaRPr lang="en-US" sz="1250" dirty="0"/>
          </a:p>
        </p:txBody>
      </p:sp>
      <p:sp>
        <p:nvSpPr>
          <p:cNvPr id="14" name="Text 12"/>
          <p:cNvSpPr txBox="1"/>
          <p:nvPr/>
        </p:nvSpPr>
        <p:spPr>
          <a:xfrm>
            <a:off x="1371600" y="2221992"/>
            <a:ext cx="4480560" cy="219456"/>
          </a:xfrm>
          <a:prstGeom prst="rect">
            <a:avLst/>
          </a:prstGeom>
          <a:noFill/>
          <a:ln/>
        </p:spPr>
        <p:txBody>
          <a:bodyPr wrap="square" lIns="0" tIns="0" rIns="0" bIns="0" rtlCol="0" anchor="ctr"/>
          <a:lstStyle/>
          <a:p>
            <a:pPr marL="0" indent="0" algn="ctr">
              <a:buNone/>
            </a:pPr>
            <a:r>
              <a:rPr lang="en-US" sz="1000" dirty="0">
                <a:solidFill>
                  <a:srgbClr val="534AB7"/>
                </a:solidFill>
                <a:latin typeface="Calibri" pitchFamily="34" charset="0"/>
                <a:ea typeface="Calibri" pitchFamily="34" charset="-122"/>
                <a:cs typeface="Calibri" pitchFamily="34" charset="-120"/>
              </a:rPr>
              <a:t>Uvicorn · JSON over HTTP</a:t>
            </a:r>
            <a:endParaRPr lang="en-US" sz="1000" dirty="0"/>
          </a:p>
        </p:txBody>
      </p:sp>
      <p:sp>
        <p:nvSpPr>
          <p:cNvPr id="15" name="Shape 13"/>
          <p:cNvSpPr/>
          <p:nvPr/>
        </p:nvSpPr>
        <p:spPr>
          <a:xfrm>
            <a:off x="6309360" y="1938528"/>
            <a:ext cx="4480560" cy="502920"/>
          </a:xfrm>
          <a:prstGeom prst="roundRect">
            <a:avLst>
              <a:gd name="adj" fmla="val 12727"/>
            </a:avLst>
          </a:prstGeom>
          <a:solidFill>
            <a:srgbClr val="EEEDFE"/>
          </a:solidFill>
          <a:ln w="9525">
            <a:solidFill>
              <a:srgbClr val="7F77DD"/>
            </a:solidFill>
            <a:prstDash val="solid"/>
          </a:ln>
        </p:spPr>
      </p:sp>
      <p:sp>
        <p:nvSpPr>
          <p:cNvPr id="16" name="Text 14"/>
          <p:cNvSpPr txBox="1"/>
          <p:nvPr/>
        </p:nvSpPr>
        <p:spPr>
          <a:xfrm>
            <a:off x="6309360" y="2002536"/>
            <a:ext cx="4480560" cy="237744"/>
          </a:xfrm>
          <a:prstGeom prst="rect">
            <a:avLst/>
          </a:prstGeom>
          <a:noFill/>
          <a:ln/>
        </p:spPr>
        <p:txBody>
          <a:bodyPr wrap="square" lIns="0" tIns="0" rIns="0" bIns="0" rtlCol="0" anchor="ctr"/>
          <a:lstStyle/>
          <a:p>
            <a:pPr marL="0" indent="0" algn="ctr">
              <a:buNone/>
            </a:pPr>
            <a:r>
              <a:rPr lang="en-US" sz="1250" b="1" dirty="0">
                <a:solidFill>
                  <a:srgbClr val="534AB7"/>
                </a:solidFill>
                <a:latin typeface="Calibri" pitchFamily="34" charset="0"/>
                <a:ea typeface="Calibri" pitchFamily="34" charset="-122"/>
                <a:cs typeface="Calibri" pitchFamily="34" charset="-120"/>
              </a:rPr>
              <a:t>MCP server</a:t>
            </a:r>
            <a:endParaRPr lang="en-US" sz="1250" dirty="0"/>
          </a:p>
        </p:txBody>
      </p:sp>
      <p:sp>
        <p:nvSpPr>
          <p:cNvPr id="17" name="Text 15"/>
          <p:cNvSpPr txBox="1"/>
          <p:nvPr/>
        </p:nvSpPr>
        <p:spPr>
          <a:xfrm>
            <a:off x="6309360" y="2221992"/>
            <a:ext cx="4480560" cy="219456"/>
          </a:xfrm>
          <a:prstGeom prst="rect">
            <a:avLst/>
          </a:prstGeom>
          <a:noFill/>
          <a:ln/>
        </p:spPr>
        <p:txBody>
          <a:bodyPr wrap="square" lIns="0" tIns="0" rIns="0" bIns="0" rtlCol="0" anchor="ctr"/>
          <a:lstStyle/>
          <a:p>
            <a:pPr marL="0" indent="0" algn="ctr">
              <a:buNone/>
            </a:pPr>
            <a:r>
              <a:rPr lang="en-US" sz="1000" dirty="0">
                <a:solidFill>
                  <a:srgbClr val="534AB7"/>
                </a:solidFill>
                <a:latin typeface="Calibri" pitchFamily="34" charset="0"/>
                <a:ea typeface="Calibri" pitchFamily="34" charset="-122"/>
                <a:cs typeface="Calibri" pitchFamily="34" charset="-120"/>
              </a:rPr>
              <a:t>stdio · 5 tools · 4 resources · 2 prompts</a:t>
            </a:r>
            <a:endParaRPr lang="en-US" sz="1000" dirty="0"/>
          </a:p>
        </p:txBody>
      </p:sp>
      <p:sp>
        <p:nvSpPr>
          <p:cNvPr id="18" name="Shape 16"/>
          <p:cNvSpPr/>
          <p:nvPr/>
        </p:nvSpPr>
        <p:spPr>
          <a:xfrm>
            <a:off x="3611880" y="2441448"/>
            <a:ext cx="0" cy="228600"/>
          </a:xfrm>
          <a:prstGeom prst="line">
            <a:avLst/>
          </a:prstGeom>
          <a:noFill/>
          <a:ln w="12700">
            <a:solidFill>
              <a:srgbClr val="888780"/>
            </a:solidFill>
            <a:prstDash val="solid"/>
            <a:tailEnd type="triangle"/>
          </a:ln>
        </p:spPr>
      </p:sp>
      <p:sp>
        <p:nvSpPr>
          <p:cNvPr id="19" name="Shape 17"/>
          <p:cNvSpPr/>
          <p:nvPr/>
        </p:nvSpPr>
        <p:spPr>
          <a:xfrm>
            <a:off x="8549640" y="2441448"/>
            <a:ext cx="0" cy="228600"/>
          </a:xfrm>
          <a:prstGeom prst="line">
            <a:avLst/>
          </a:prstGeom>
          <a:noFill/>
          <a:ln w="12700">
            <a:solidFill>
              <a:srgbClr val="888780"/>
            </a:solidFill>
            <a:prstDash val="solid"/>
            <a:tailEnd type="triangle"/>
          </a:ln>
        </p:spPr>
      </p:sp>
      <p:sp>
        <p:nvSpPr>
          <p:cNvPr id="20" name="Shape 18"/>
          <p:cNvSpPr/>
          <p:nvPr/>
        </p:nvSpPr>
        <p:spPr>
          <a:xfrm>
            <a:off x="1097280" y="2670048"/>
            <a:ext cx="9966960" cy="1627632"/>
          </a:xfrm>
          <a:prstGeom prst="roundRect">
            <a:avLst>
              <a:gd name="adj" fmla="val 3933"/>
            </a:avLst>
          </a:prstGeom>
          <a:solidFill>
            <a:srgbClr val="F1EFE8"/>
          </a:solidFill>
          <a:ln w="9525">
            <a:solidFill>
              <a:srgbClr val="D3D1C7"/>
            </a:solidFill>
            <a:prstDash val="solid"/>
          </a:ln>
        </p:spPr>
      </p:sp>
      <p:sp>
        <p:nvSpPr>
          <p:cNvPr id="21" name="Text 19"/>
          <p:cNvSpPr txBox="1"/>
          <p:nvPr/>
        </p:nvSpPr>
        <p:spPr>
          <a:xfrm>
            <a:off x="1325880" y="2743200"/>
            <a:ext cx="5486400" cy="237744"/>
          </a:xfrm>
          <a:prstGeom prst="rect">
            <a:avLst/>
          </a:prstGeom>
          <a:noFill/>
          <a:ln/>
        </p:spPr>
        <p:txBody>
          <a:bodyPr wrap="square" lIns="0" tIns="0" rIns="0" bIns="0" rtlCol="0" anchor="ctr"/>
          <a:lstStyle/>
          <a:p>
            <a:pPr marL="0" indent="0">
              <a:buNone/>
            </a:pPr>
            <a:r>
              <a:rPr lang="en-US" sz="1200" b="1" dirty="0">
                <a:solidFill>
                  <a:srgbClr val="2C2C2A"/>
                </a:solidFill>
                <a:latin typeface="Calibri" pitchFamily="34" charset="0"/>
                <a:ea typeface="Calibri" pitchFamily="34" charset="-122"/>
                <a:cs typeface="Calibri" pitchFamily="34" charset="-120"/>
              </a:rPr>
              <a:t>Analysis engine — Python, 100% deterministic</a:t>
            </a:r>
            <a:endParaRPr lang="en-US" sz="1200" dirty="0"/>
          </a:p>
        </p:txBody>
      </p:sp>
      <p:sp>
        <p:nvSpPr>
          <p:cNvPr id="22" name="Shape 20"/>
          <p:cNvSpPr/>
          <p:nvPr/>
        </p:nvSpPr>
        <p:spPr>
          <a:xfrm>
            <a:off x="1371600" y="3035808"/>
            <a:ext cx="4480560" cy="502920"/>
          </a:xfrm>
          <a:prstGeom prst="roundRect">
            <a:avLst>
              <a:gd name="adj" fmla="val 12727"/>
            </a:avLst>
          </a:prstGeom>
          <a:solidFill>
            <a:srgbClr val="E1F5EE"/>
          </a:solidFill>
          <a:ln w="9525">
            <a:solidFill>
              <a:srgbClr val="1D9E75"/>
            </a:solidFill>
            <a:prstDash val="solid"/>
          </a:ln>
        </p:spPr>
      </p:sp>
      <p:sp>
        <p:nvSpPr>
          <p:cNvPr id="23" name="Text 21"/>
          <p:cNvSpPr txBox="1"/>
          <p:nvPr/>
        </p:nvSpPr>
        <p:spPr>
          <a:xfrm>
            <a:off x="1371600" y="3099816"/>
            <a:ext cx="4480560" cy="237744"/>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Deviation detector</a:t>
            </a:r>
            <a:endParaRPr lang="en-US" sz="1250" dirty="0"/>
          </a:p>
        </p:txBody>
      </p:sp>
      <p:sp>
        <p:nvSpPr>
          <p:cNvPr id="24" name="Text 22"/>
          <p:cNvSpPr txBox="1"/>
          <p:nvPr/>
        </p:nvSpPr>
        <p:spPr>
          <a:xfrm>
            <a:off x="1371600" y="3319272"/>
            <a:ext cx="4480560" cy="219456"/>
          </a:xfrm>
          <a:prstGeom prst="rect">
            <a:avLst/>
          </a:prstGeom>
          <a:noFill/>
          <a:ln/>
        </p:spPr>
        <p:txBody>
          <a:bodyPr wrap="square" lIns="0" tIns="0" rIns="0" bIns="0" rtlCol="0" anchor="ctr"/>
          <a:lstStyle/>
          <a:p>
            <a:pPr marL="0" indent="0" algn="ctr">
              <a:buNone/>
            </a:pPr>
            <a:r>
              <a:rPr lang="en-US" sz="1000" dirty="0">
                <a:solidFill>
                  <a:srgbClr val="0F6E56"/>
                </a:solidFill>
                <a:latin typeface="Calibri" pitchFamily="34" charset="0"/>
                <a:ea typeface="Calibri" pitchFamily="34" charset="-122"/>
                <a:cs typeface="Calibri" pitchFamily="34" charset="-120"/>
              </a:rPr>
              <a:t>Rule-based · 5 categories · ICH severity</a:t>
            </a:r>
            <a:endParaRPr lang="en-US" sz="1000" dirty="0"/>
          </a:p>
        </p:txBody>
      </p:sp>
      <p:sp>
        <p:nvSpPr>
          <p:cNvPr id="25" name="Shape 23"/>
          <p:cNvSpPr/>
          <p:nvPr/>
        </p:nvSpPr>
        <p:spPr>
          <a:xfrm>
            <a:off x="6309360" y="3035808"/>
            <a:ext cx="4480560" cy="502920"/>
          </a:xfrm>
          <a:prstGeom prst="roundRect">
            <a:avLst>
              <a:gd name="adj" fmla="val 12727"/>
            </a:avLst>
          </a:prstGeom>
          <a:solidFill>
            <a:srgbClr val="E1F5EE"/>
          </a:solidFill>
          <a:ln w="9525">
            <a:solidFill>
              <a:srgbClr val="1D9E75"/>
            </a:solidFill>
            <a:prstDash val="solid"/>
          </a:ln>
        </p:spPr>
      </p:sp>
      <p:sp>
        <p:nvSpPr>
          <p:cNvPr id="26" name="Text 24"/>
          <p:cNvSpPr txBox="1"/>
          <p:nvPr/>
        </p:nvSpPr>
        <p:spPr>
          <a:xfrm>
            <a:off x="6309360" y="3099816"/>
            <a:ext cx="4480560" cy="237744"/>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Risk scorer</a:t>
            </a:r>
            <a:endParaRPr lang="en-US" sz="1250" dirty="0"/>
          </a:p>
        </p:txBody>
      </p:sp>
      <p:sp>
        <p:nvSpPr>
          <p:cNvPr id="27" name="Text 25"/>
          <p:cNvSpPr txBox="1"/>
          <p:nvPr/>
        </p:nvSpPr>
        <p:spPr>
          <a:xfrm>
            <a:off x="6309360" y="3319272"/>
            <a:ext cx="4480560" cy="219456"/>
          </a:xfrm>
          <a:prstGeom prst="rect">
            <a:avLst/>
          </a:prstGeom>
          <a:noFill/>
          <a:ln/>
        </p:spPr>
        <p:txBody>
          <a:bodyPr wrap="square" lIns="0" tIns="0" rIns="0" bIns="0" rtlCol="0" anchor="ctr"/>
          <a:lstStyle/>
          <a:p>
            <a:pPr marL="0" indent="0" algn="ctr">
              <a:buNone/>
            </a:pPr>
            <a:r>
              <a:rPr lang="en-US" sz="1000" dirty="0">
                <a:solidFill>
                  <a:srgbClr val="0F6E56"/>
                </a:solidFill>
                <a:latin typeface="Calibri" pitchFamily="34" charset="0"/>
                <a:ea typeface="Calibri" pitchFamily="34" charset="-122"/>
                <a:cs typeface="Calibri" pitchFamily="34" charset="-120"/>
              </a:rPr>
              <a:t>Weighted 0–100 composite formula</a:t>
            </a:r>
            <a:endParaRPr lang="en-US" sz="1000" dirty="0"/>
          </a:p>
        </p:txBody>
      </p:sp>
      <p:sp>
        <p:nvSpPr>
          <p:cNvPr id="28" name="Shape 26"/>
          <p:cNvSpPr/>
          <p:nvPr/>
        </p:nvSpPr>
        <p:spPr>
          <a:xfrm>
            <a:off x="1371600" y="3630168"/>
            <a:ext cx="4480560" cy="502920"/>
          </a:xfrm>
          <a:prstGeom prst="roundRect">
            <a:avLst>
              <a:gd name="adj" fmla="val 12727"/>
            </a:avLst>
          </a:prstGeom>
          <a:solidFill>
            <a:srgbClr val="E1F5EE"/>
          </a:solidFill>
          <a:ln w="9525">
            <a:solidFill>
              <a:srgbClr val="1D9E75"/>
            </a:solidFill>
            <a:prstDash val="solid"/>
          </a:ln>
        </p:spPr>
      </p:sp>
      <p:sp>
        <p:nvSpPr>
          <p:cNvPr id="29" name="Text 27"/>
          <p:cNvSpPr txBox="1"/>
          <p:nvPr/>
        </p:nvSpPr>
        <p:spPr>
          <a:xfrm>
            <a:off x="1371600" y="3694176"/>
            <a:ext cx="4480560" cy="237744"/>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FHIR adapter</a:t>
            </a:r>
            <a:endParaRPr lang="en-US" sz="1250" dirty="0"/>
          </a:p>
        </p:txBody>
      </p:sp>
      <p:sp>
        <p:nvSpPr>
          <p:cNvPr id="30" name="Text 28"/>
          <p:cNvSpPr txBox="1"/>
          <p:nvPr/>
        </p:nvSpPr>
        <p:spPr>
          <a:xfrm>
            <a:off x="1371600" y="3913632"/>
            <a:ext cx="4480560" cy="219456"/>
          </a:xfrm>
          <a:prstGeom prst="rect">
            <a:avLst/>
          </a:prstGeom>
          <a:noFill/>
          <a:ln/>
        </p:spPr>
        <p:txBody>
          <a:bodyPr wrap="square" lIns="0" tIns="0" rIns="0" bIns="0" rtlCol="0" anchor="ctr"/>
          <a:lstStyle/>
          <a:p>
            <a:pPr marL="0" indent="0" algn="ctr">
              <a:buNone/>
            </a:pPr>
            <a:r>
              <a:rPr lang="en-US" sz="1000" dirty="0">
                <a:solidFill>
                  <a:srgbClr val="0F6E56"/>
                </a:solidFill>
                <a:latin typeface="Calibri" pitchFamily="34" charset="0"/>
                <a:ea typeface="Calibri" pitchFamily="34" charset="-122"/>
                <a:cs typeface="Calibri" pitchFamily="34" charset="-120"/>
              </a:rPr>
              <a:t>HL7 FHIR R4 · CDISC SDTM export</a:t>
            </a:r>
            <a:endParaRPr lang="en-US" sz="1000" dirty="0"/>
          </a:p>
        </p:txBody>
      </p:sp>
      <p:sp>
        <p:nvSpPr>
          <p:cNvPr id="31" name="Shape 29"/>
          <p:cNvSpPr/>
          <p:nvPr/>
        </p:nvSpPr>
        <p:spPr>
          <a:xfrm>
            <a:off x="6309360" y="3630168"/>
            <a:ext cx="4480560" cy="502920"/>
          </a:xfrm>
          <a:prstGeom prst="roundRect">
            <a:avLst>
              <a:gd name="adj" fmla="val 12727"/>
            </a:avLst>
          </a:prstGeom>
          <a:solidFill>
            <a:srgbClr val="E1F5EE"/>
          </a:solidFill>
          <a:ln w="9525">
            <a:solidFill>
              <a:srgbClr val="1D9E75"/>
            </a:solidFill>
            <a:prstDash val="solid"/>
          </a:ln>
        </p:spPr>
      </p:sp>
      <p:sp>
        <p:nvSpPr>
          <p:cNvPr id="32" name="Text 30"/>
          <p:cNvSpPr txBox="1"/>
          <p:nvPr/>
        </p:nvSpPr>
        <p:spPr>
          <a:xfrm>
            <a:off x="6309360" y="3694176"/>
            <a:ext cx="4480560" cy="237744"/>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CAPA generator</a:t>
            </a:r>
            <a:endParaRPr lang="en-US" sz="1250" dirty="0"/>
          </a:p>
        </p:txBody>
      </p:sp>
      <p:sp>
        <p:nvSpPr>
          <p:cNvPr id="33" name="Text 31"/>
          <p:cNvSpPr txBox="1"/>
          <p:nvPr/>
        </p:nvSpPr>
        <p:spPr>
          <a:xfrm>
            <a:off x="6309360" y="3913632"/>
            <a:ext cx="4480560" cy="219456"/>
          </a:xfrm>
          <a:prstGeom prst="rect">
            <a:avLst/>
          </a:prstGeom>
          <a:noFill/>
          <a:ln/>
        </p:spPr>
        <p:txBody>
          <a:bodyPr wrap="square" lIns="0" tIns="0" rIns="0" bIns="0" rtlCol="0" anchor="ctr"/>
          <a:lstStyle/>
          <a:p>
            <a:pPr marL="0" indent="0" algn="ctr">
              <a:buNone/>
            </a:pPr>
            <a:r>
              <a:rPr lang="en-US" sz="1000" dirty="0">
                <a:solidFill>
                  <a:srgbClr val="0F6E56"/>
                </a:solidFill>
                <a:latin typeface="Calibri" pitchFamily="34" charset="0"/>
                <a:ea typeface="Calibri" pitchFamily="34" charset="-122"/>
                <a:cs typeface="Calibri" pitchFamily="34" charset="-120"/>
              </a:rPr>
              <a:t>Template first, LLM narrative second</a:t>
            </a:r>
            <a:endParaRPr lang="en-US" sz="1000" dirty="0"/>
          </a:p>
        </p:txBody>
      </p:sp>
      <p:sp>
        <p:nvSpPr>
          <p:cNvPr id="34" name="Shape 32"/>
          <p:cNvSpPr/>
          <p:nvPr/>
        </p:nvSpPr>
        <p:spPr>
          <a:xfrm>
            <a:off x="3611880" y="4297680"/>
            <a:ext cx="0" cy="228600"/>
          </a:xfrm>
          <a:prstGeom prst="line">
            <a:avLst/>
          </a:prstGeom>
          <a:noFill/>
          <a:ln w="12700">
            <a:solidFill>
              <a:srgbClr val="888780"/>
            </a:solidFill>
            <a:prstDash val="solid"/>
            <a:tailEnd type="triangle"/>
          </a:ln>
        </p:spPr>
      </p:sp>
      <p:sp>
        <p:nvSpPr>
          <p:cNvPr id="35" name="Shape 33"/>
          <p:cNvSpPr/>
          <p:nvPr/>
        </p:nvSpPr>
        <p:spPr>
          <a:xfrm>
            <a:off x="8549640" y="4297680"/>
            <a:ext cx="0" cy="228600"/>
          </a:xfrm>
          <a:prstGeom prst="line">
            <a:avLst/>
          </a:prstGeom>
          <a:noFill/>
          <a:ln w="12700">
            <a:solidFill>
              <a:srgbClr val="888780"/>
            </a:solidFill>
            <a:prstDash val="solid"/>
            <a:tailEnd type="triangle"/>
          </a:ln>
        </p:spPr>
      </p:sp>
      <p:sp>
        <p:nvSpPr>
          <p:cNvPr id="36" name="Shape 34"/>
          <p:cNvSpPr/>
          <p:nvPr/>
        </p:nvSpPr>
        <p:spPr>
          <a:xfrm>
            <a:off x="1371600" y="4526280"/>
            <a:ext cx="4480560" cy="502920"/>
          </a:xfrm>
          <a:prstGeom prst="roundRect">
            <a:avLst>
              <a:gd name="adj" fmla="val 12727"/>
            </a:avLst>
          </a:prstGeom>
          <a:solidFill>
            <a:srgbClr val="E1F5EE"/>
          </a:solidFill>
          <a:ln w="9525">
            <a:solidFill>
              <a:srgbClr val="1D9E75"/>
            </a:solidFill>
            <a:prstDash val="solid"/>
          </a:ln>
        </p:spPr>
      </p:sp>
      <p:sp>
        <p:nvSpPr>
          <p:cNvPr id="37" name="Text 35"/>
          <p:cNvSpPr txBox="1"/>
          <p:nvPr/>
        </p:nvSpPr>
        <p:spPr>
          <a:xfrm>
            <a:off x="1371600" y="4590288"/>
            <a:ext cx="4480560" cy="237744"/>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DataSource adapter (ABC)</a:t>
            </a:r>
            <a:endParaRPr lang="en-US" sz="1250" dirty="0"/>
          </a:p>
        </p:txBody>
      </p:sp>
      <p:sp>
        <p:nvSpPr>
          <p:cNvPr id="38" name="Text 36"/>
          <p:cNvSpPr txBox="1"/>
          <p:nvPr/>
        </p:nvSpPr>
        <p:spPr>
          <a:xfrm>
            <a:off x="1371600" y="4809744"/>
            <a:ext cx="4480560" cy="219456"/>
          </a:xfrm>
          <a:prstGeom prst="rect">
            <a:avLst/>
          </a:prstGeom>
          <a:noFill/>
          <a:ln/>
        </p:spPr>
        <p:txBody>
          <a:bodyPr wrap="square" lIns="0" tIns="0" rIns="0" bIns="0" rtlCol="0" anchor="ctr"/>
          <a:lstStyle/>
          <a:p>
            <a:pPr marL="0" indent="0" algn="ctr">
              <a:buNone/>
            </a:pPr>
            <a:r>
              <a:rPr lang="en-US" sz="1000" dirty="0">
                <a:solidFill>
                  <a:srgbClr val="0F6E56"/>
                </a:solidFill>
                <a:latin typeface="Calibri" pitchFamily="34" charset="0"/>
                <a:ea typeface="Calibri" pitchFamily="34" charset="-122"/>
                <a:cs typeface="Calibri" pitchFamily="34" charset="-120"/>
              </a:rPr>
              <a:t>MockDataSource | SupabaseDataSource</a:t>
            </a:r>
            <a:endParaRPr lang="en-US" sz="1000" dirty="0"/>
          </a:p>
        </p:txBody>
      </p:sp>
      <p:sp>
        <p:nvSpPr>
          <p:cNvPr id="39" name="Shape 37"/>
          <p:cNvSpPr/>
          <p:nvPr/>
        </p:nvSpPr>
        <p:spPr>
          <a:xfrm>
            <a:off x="6309360" y="4526280"/>
            <a:ext cx="4480560" cy="502920"/>
          </a:xfrm>
          <a:prstGeom prst="roundRect">
            <a:avLst>
              <a:gd name="adj" fmla="val 12727"/>
            </a:avLst>
          </a:prstGeom>
          <a:solidFill>
            <a:srgbClr val="FAECE7"/>
          </a:solidFill>
          <a:ln w="9525">
            <a:solidFill>
              <a:srgbClr val="D85A30"/>
            </a:solidFill>
            <a:prstDash val="solid"/>
          </a:ln>
        </p:spPr>
      </p:sp>
      <p:sp>
        <p:nvSpPr>
          <p:cNvPr id="40" name="Text 38"/>
          <p:cNvSpPr txBox="1"/>
          <p:nvPr/>
        </p:nvSpPr>
        <p:spPr>
          <a:xfrm>
            <a:off x="6309360" y="4590288"/>
            <a:ext cx="4480560" cy="237744"/>
          </a:xfrm>
          <a:prstGeom prst="rect">
            <a:avLst/>
          </a:prstGeom>
          <a:noFill/>
          <a:ln/>
        </p:spPr>
        <p:txBody>
          <a:bodyPr wrap="square" lIns="0" tIns="0" rIns="0" bIns="0" rtlCol="0" anchor="ctr"/>
          <a:lstStyle/>
          <a:p>
            <a:pPr marL="0" indent="0" algn="ctr">
              <a:buNone/>
            </a:pPr>
            <a:r>
              <a:rPr lang="en-US" sz="1250" b="1" dirty="0">
                <a:solidFill>
                  <a:srgbClr val="993C1D"/>
                </a:solidFill>
                <a:latin typeface="Calibri" pitchFamily="34" charset="0"/>
                <a:ea typeface="Calibri" pitchFamily="34" charset="-122"/>
                <a:cs typeface="Calibri" pitchFamily="34" charset="-120"/>
              </a:rPr>
              <a:t>IBM watsonx.ai</a:t>
            </a:r>
            <a:endParaRPr lang="en-US" sz="1250" dirty="0"/>
          </a:p>
        </p:txBody>
      </p:sp>
      <p:sp>
        <p:nvSpPr>
          <p:cNvPr id="41" name="Text 39"/>
          <p:cNvSpPr txBox="1"/>
          <p:nvPr/>
        </p:nvSpPr>
        <p:spPr>
          <a:xfrm>
            <a:off x="6309360" y="4809744"/>
            <a:ext cx="4480560" cy="219456"/>
          </a:xfrm>
          <a:prstGeom prst="rect">
            <a:avLst/>
          </a:prstGeom>
          <a:noFill/>
          <a:ln/>
        </p:spPr>
        <p:txBody>
          <a:bodyPr wrap="square" lIns="0" tIns="0" rIns="0" bIns="0" rtlCol="0" anchor="ctr"/>
          <a:lstStyle/>
          <a:p>
            <a:pPr marL="0" indent="0" algn="ctr">
              <a:buNone/>
            </a:pPr>
            <a:r>
              <a:rPr lang="en-US" sz="1000" dirty="0">
                <a:solidFill>
                  <a:srgbClr val="993C1D"/>
                </a:solidFill>
                <a:latin typeface="Calibri" pitchFamily="34" charset="0"/>
                <a:ea typeface="Calibri" pitchFamily="34" charset="-122"/>
                <a:cs typeface="Calibri" pitchFamily="34" charset="-120"/>
              </a:rPr>
              <a:t>Granite 3-8B Instruct · narrative only</a:t>
            </a:r>
            <a:endParaRPr lang="en-US" sz="1000" dirty="0"/>
          </a:p>
        </p:txBody>
      </p:sp>
      <p:sp>
        <p:nvSpPr>
          <p:cNvPr id="42" name="Shape 40"/>
          <p:cNvSpPr/>
          <p:nvPr/>
        </p:nvSpPr>
        <p:spPr>
          <a:xfrm>
            <a:off x="3611880" y="5029200"/>
            <a:ext cx="0" cy="201168"/>
          </a:xfrm>
          <a:prstGeom prst="line">
            <a:avLst/>
          </a:prstGeom>
          <a:noFill/>
          <a:ln w="12700">
            <a:solidFill>
              <a:srgbClr val="888780"/>
            </a:solidFill>
            <a:prstDash val="solid"/>
            <a:tailEnd type="triangle"/>
          </a:ln>
        </p:spPr>
      </p:sp>
      <p:sp>
        <p:nvSpPr>
          <p:cNvPr id="43" name="Shape 41"/>
          <p:cNvSpPr/>
          <p:nvPr/>
        </p:nvSpPr>
        <p:spPr>
          <a:xfrm>
            <a:off x="1371600" y="5230368"/>
            <a:ext cx="9418320" cy="548640"/>
          </a:xfrm>
          <a:prstGeom prst="roundRect">
            <a:avLst>
              <a:gd name="adj" fmla="val 11667"/>
            </a:avLst>
          </a:prstGeom>
          <a:solidFill>
            <a:srgbClr val="E1F5EE"/>
          </a:solidFill>
          <a:ln w="9525">
            <a:solidFill>
              <a:srgbClr val="1D9E75"/>
            </a:solidFill>
            <a:prstDash val="solid"/>
          </a:ln>
        </p:spPr>
      </p:sp>
      <p:sp>
        <p:nvSpPr>
          <p:cNvPr id="44" name="Text 42"/>
          <p:cNvSpPr txBox="1"/>
          <p:nvPr/>
        </p:nvSpPr>
        <p:spPr>
          <a:xfrm>
            <a:off x="1371600" y="5294376"/>
            <a:ext cx="9418320" cy="237744"/>
          </a:xfrm>
          <a:prstGeom prst="rect">
            <a:avLst/>
          </a:prstGeom>
          <a:noFill/>
          <a:ln/>
        </p:spPr>
        <p:txBody>
          <a:bodyPr wrap="square" lIns="0" tIns="0" rIns="0" bIns="0" rtlCol="0" anchor="ctr"/>
          <a:lstStyle/>
          <a:p>
            <a:pPr marL="0" indent="0" algn="ctr">
              <a:buNone/>
            </a:pPr>
            <a:r>
              <a:rPr lang="en-US" sz="1250" b="1" dirty="0">
                <a:solidFill>
                  <a:srgbClr val="0F6E56"/>
                </a:solidFill>
                <a:latin typeface="Calibri" pitchFamily="34" charset="0"/>
                <a:ea typeface="Calibri" pitchFamily="34" charset="-122"/>
                <a:cs typeface="Calibri" pitchFamily="34" charset="-120"/>
              </a:rPr>
              <a:t>Supabase (PostgreSQL) — 6 tables with row level security</a:t>
            </a:r>
            <a:endParaRPr lang="en-US" sz="1250" dirty="0"/>
          </a:p>
        </p:txBody>
      </p:sp>
      <p:sp>
        <p:nvSpPr>
          <p:cNvPr id="45" name="Text 43"/>
          <p:cNvSpPr txBox="1"/>
          <p:nvPr/>
        </p:nvSpPr>
        <p:spPr>
          <a:xfrm>
            <a:off x="1371600" y="5513832"/>
            <a:ext cx="9418320" cy="219456"/>
          </a:xfrm>
          <a:prstGeom prst="rect">
            <a:avLst/>
          </a:prstGeom>
          <a:noFill/>
          <a:ln/>
        </p:spPr>
        <p:txBody>
          <a:bodyPr wrap="square" lIns="0" tIns="0" rIns="0" bIns="0" rtlCol="0" anchor="ctr"/>
          <a:lstStyle/>
          <a:p>
            <a:pPr marL="0" indent="0" algn="ctr">
              <a:buNone/>
            </a:pPr>
            <a:r>
              <a:rPr lang="en-US" sz="1000" dirty="0">
                <a:solidFill>
                  <a:srgbClr val="0F6E56"/>
                </a:solidFill>
                <a:latin typeface="Calibri" pitchFamily="34" charset="0"/>
                <a:ea typeface="Calibri" pitchFamily="34" charset="-122"/>
                <a:cs typeface="Calibri" pitchFamily="34" charset="-120"/>
              </a:rPr>
              <a:t>sites · patients · patient_visits · deviations · site_risk_profiles · capa_reports   |   210 sites · 625 patients · 895 deviations</a:t>
            </a:r>
            <a:endParaRPr lang="en-US" sz="1000" dirty="0"/>
          </a:p>
        </p:txBody>
      </p:sp>
      <p:sp>
        <p:nvSpPr>
          <p:cNvPr id="46" name="Shape 44"/>
          <p:cNvSpPr/>
          <p:nvPr/>
        </p:nvSpPr>
        <p:spPr>
          <a:xfrm>
            <a:off x="1371600" y="5961888"/>
            <a:ext cx="155448" cy="155448"/>
          </a:xfrm>
          <a:prstGeom prst="ellipse">
            <a:avLst/>
          </a:prstGeom>
          <a:solidFill>
            <a:srgbClr val="7F77DD"/>
          </a:solidFill>
          <a:ln w="12700">
            <a:solidFill>
              <a:srgbClr val="7F77DD"/>
            </a:solidFill>
            <a:prstDash val="solid"/>
          </a:ln>
        </p:spPr>
      </p:sp>
      <p:sp>
        <p:nvSpPr>
          <p:cNvPr id="47" name="Text 45"/>
          <p:cNvSpPr txBox="1"/>
          <p:nvPr/>
        </p:nvSpPr>
        <p:spPr>
          <a:xfrm>
            <a:off x="1600200" y="5925312"/>
            <a:ext cx="2926080" cy="237744"/>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Clients and interfaces</a:t>
            </a:r>
            <a:endParaRPr lang="en-US" sz="1050" dirty="0"/>
          </a:p>
        </p:txBody>
      </p:sp>
      <p:sp>
        <p:nvSpPr>
          <p:cNvPr id="48" name="Shape 46"/>
          <p:cNvSpPr/>
          <p:nvPr/>
        </p:nvSpPr>
        <p:spPr>
          <a:xfrm>
            <a:off x="4572000" y="5961888"/>
            <a:ext cx="155448" cy="155448"/>
          </a:xfrm>
          <a:prstGeom prst="ellipse">
            <a:avLst/>
          </a:prstGeom>
          <a:solidFill>
            <a:srgbClr val="1D9E75"/>
          </a:solidFill>
          <a:ln w="12700">
            <a:solidFill>
              <a:srgbClr val="1D9E75"/>
            </a:solidFill>
            <a:prstDash val="solid"/>
          </a:ln>
        </p:spPr>
      </p:sp>
      <p:sp>
        <p:nvSpPr>
          <p:cNvPr id="49" name="Text 47"/>
          <p:cNvSpPr txBox="1"/>
          <p:nvPr/>
        </p:nvSpPr>
        <p:spPr>
          <a:xfrm>
            <a:off x="4800600" y="5925312"/>
            <a:ext cx="2926080" cy="237744"/>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Deterministic core and data</a:t>
            </a:r>
            <a:endParaRPr lang="en-US" sz="1050" dirty="0"/>
          </a:p>
        </p:txBody>
      </p:sp>
      <p:sp>
        <p:nvSpPr>
          <p:cNvPr id="50" name="Shape 48"/>
          <p:cNvSpPr/>
          <p:nvPr/>
        </p:nvSpPr>
        <p:spPr>
          <a:xfrm>
            <a:off x="7772400" y="5961888"/>
            <a:ext cx="155448" cy="155448"/>
          </a:xfrm>
          <a:prstGeom prst="ellipse">
            <a:avLst/>
          </a:prstGeom>
          <a:solidFill>
            <a:srgbClr val="D85A30"/>
          </a:solidFill>
          <a:ln w="12700">
            <a:solidFill>
              <a:srgbClr val="D85A30"/>
            </a:solidFill>
            <a:prstDash val="solid"/>
          </a:ln>
        </p:spPr>
      </p:sp>
      <p:sp>
        <p:nvSpPr>
          <p:cNvPr id="51" name="Text 49"/>
          <p:cNvSpPr txBox="1"/>
          <p:nvPr/>
        </p:nvSpPr>
        <p:spPr>
          <a:xfrm>
            <a:off x="8001000" y="5925312"/>
            <a:ext cx="2926080" cy="237744"/>
          </a:xfrm>
          <a:prstGeom prst="rect">
            <a:avLst/>
          </a:prstGeom>
          <a:noFill/>
          <a:ln/>
        </p:spPr>
        <p:txBody>
          <a:bodyPr wrap="square" lIns="0" tIns="0" rIns="0" bIns="0" rtlCol="0" anchor="ctr"/>
          <a:lstStyle/>
          <a:p>
            <a:pPr marL="0" indent="0">
              <a:buNone/>
            </a:pPr>
            <a:r>
              <a:rPr lang="en-US" sz="1050" dirty="0">
                <a:solidFill>
                  <a:srgbClr val="5F5E5A"/>
                </a:solidFill>
                <a:latin typeface="Calibri" pitchFamily="34" charset="0"/>
                <a:ea typeface="Calibri" pitchFamily="34" charset="-122"/>
                <a:cs typeface="Calibri" pitchFamily="34" charset="-120"/>
              </a:rPr>
              <a:t>AI — presentation only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KEY DESIGN DECISION</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Deterministic core, AI presentation</a:t>
            </a:r>
            <a:endParaRPr lang="en-US" sz="3100" dirty="0"/>
          </a:p>
        </p:txBody>
      </p:sp>
      <p:sp>
        <p:nvSpPr>
          <p:cNvPr id="4" name="Text 2"/>
          <p:cNvSpPr txBox="1"/>
          <p:nvPr/>
        </p:nvSpPr>
        <p:spPr>
          <a:xfrm>
            <a:off x="548640" y="1024128"/>
            <a:ext cx="11064240" cy="274320"/>
          </a:xfrm>
          <a:prstGeom prst="rect">
            <a:avLst/>
          </a:prstGeom>
          <a:noFill/>
          <a:ln/>
        </p:spPr>
        <p:txBody>
          <a:bodyPr wrap="square" lIns="0" tIns="0" rIns="0" bIns="0" rtlCol="0" anchor="ctr"/>
          <a:lstStyle/>
          <a:p>
            <a:pPr marL="0" indent="0">
              <a:buNone/>
            </a:pPr>
            <a:r>
              <a:rPr lang="en-US" sz="1400" dirty="0">
                <a:solidFill>
                  <a:srgbClr val="5F5E5A"/>
                </a:solidFill>
                <a:latin typeface="Calibri" pitchFamily="34" charset="0"/>
                <a:ea typeface="Calibri" pitchFamily="34" charset="-122"/>
                <a:cs typeface="Calibri" pitchFamily="34" charset="-120"/>
              </a:rPr>
              <a:t>In a regulated environment, "the AI said so" is not an acceptable answer to an FDA auditor. The architecture enforces the separation.</a:t>
            </a:r>
            <a:endParaRPr lang="en-US" sz="1400" dirty="0"/>
          </a:p>
        </p:txBody>
      </p:sp>
      <p:sp>
        <p:nvSpPr>
          <p:cNvPr id="5" name="Shape 3"/>
          <p:cNvSpPr/>
          <p:nvPr/>
        </p:nvSpPr>
        <p:spPr>
          <a:xfrm>
            <a:off x="548640" y="1508760"/>
            <a:ext cx="5440680" cy="2606040"/>
          </a:xfrm>
          <a:prstGeom prst="roundRect">
            <a:avLst>
              <a:gd name="adj" fmla="val 2456"/>
            </a:avLst>
          </a:prstGeom>
          <a:solidFill>
            <a:srgbClr val="E1F5EE"/>
          </a:solidFill>
          <a:ln w="9525">
            <a:solidFill>
              <a:srgbClr val="1D9E75"/>
            </a:solidFill>
            <a:prstDash val="solid"/>
          </a:ln>
        </p:spPr>
      </p:sp>
      <p:sp>
        <p:nvSpPr>
          <p:cNvPr id="6" name="Text 4"/>
          <p:cNvSpPr txBox="1"/>
          <p:nvPr/>
        </p:nvSpPr>
        <p:spPr>
          <a:xfrm>
            <a:off x="804672" y="1627632"/>
            <a:ext cx="4937760" cy="292608"/>
          </a:xfrm>
          <a:prstGeom prst="rect">
            <a:avLst/>
          </a:prstGeom>
          <a:noFill/>
          <a:ln/>
        </p:spPr>
        <p:txBody>
          <a:bodyPr wrap="square" lIns="0" tIns="0" rIns="0" bIns="0" rtlCol="0" anchor="ctr"/>
          <a:lstStyle/>
          <a:p>
            <a:pPr marL="0" indent="0">
              <a:buNone/>
            </a:pPr>
            <a:r>
              <a:rPr lang="en-US" sz="1700" b="1" dirty="0">
                <a:solidFill>
                  <a:srgbClr val="0F6E56"/>
                </a:solidFill>
                <a:latin typeface="Calibri" pitchFamily="34" charset="0"/>
                <a:ea typeface="Calibri" pitchFamily="34" charset="-122"/>
                <a:cs typeface="Calibri" pitchFamily="34" charset="-120"/>
              </a:rPr>
              <a:t>What is deterministic</a:t>
            </a:r>
            <a:endParaRPr lang="en-US" sz="1700" dirty="0"/>
          </a:p>
        </p:txBody>
      </p:sp>
      <p:sp>
        <p:nvSpPr>
          <p:cNvPr id="7" name="Text 5"/>
          <p:cNvSpPr txBox="1"/>
          <p:nvPr/>
        </p:nvSpPr>
        <p:spPr>
          <a:xfrm>
            <a:off x="804672" y="1993392"/>
            <a:ext cx="4937760" cy="182880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00" dirty="0">
                <a:solidFill>
                  <a:srgbClr val="0F6E56"/>
                </a:solidFill>
                <a:latin typeface="Calibri" pitchFamily="34" charset="0"/>
                <a:ea typeface="Calibri" pitchFamily="34" charset="-122"/>
                <a:cs typeface="Calibri" pitchFamily="34" charset="-120"/>
              </a:rPr>
              <a:t>Whether something is a deviation at all</a:t>
            </a:r>
            <a:endParaRPr lang="en-US" sz="1200" dirty="0"/>
          </a:p>
          <a:p>
            <a:pPr marL="342900" indent="-342900">
              <a:lnSpc>
                <a:spcPct val="102000"/>
              </a:lnSpc>
              <a:spcAft>
                <a:spcPts val="700"/>
              </a:spcAft>
              <a:buSzPct val="100000"/>
              <a:buChar char="•"/>
            </a:pPr>
            <a:r>
              <a:rPr lang="en-US" sz="1200" dirty="0">
                <a:solidFill>
                  <a:srgbClr val="0F6E56"/>
                </a:solidFill>
                <a:latin typeface="Calibri" pitchFamily="34" charset="0"/>
                <a:ea typeface="Calibri" pitchFamily="34" charset="-122"/>
                <a:cs typeface="Calibri" pitchFamily="34" charset="-120"/>
              </a:rPr>
              <a:t>Which of the five categories it falls into</a:t>
            </a:r>
            <a:endParaRPr lang="en-US" sz="1200" dirty="0"/>
          </a:p>
          <a:p>
            <a:pPr marL="342900" indent="-342900">
              <a:lnSpc>
                <a:spcPct val="102000"/>
              </a:lnSpc>
              <a:spcAft>
                <a:spcPts val="700"/>
              </a:spcAft>
              <a:buSzPct val="100000"/>
              <a:buChar char="•"/>
            </a:pPr>
            <a:r>
              <a:rPr lang="en-US" sz="1200" dirty="0">
                <a:solidFill>
                  <a:srgbClr val="0F6E56"/>
                </a:solidFill>
                <a:latin typeface="Calibri" pitchFamily="34" charset="0"/>
                <a:ea typeface="Calibri" pitchFamily="34" charset="-122"/>
                <a:cs typeface="Calibri" pitchFamily="34" charset="-120"/>
              </a:rPr>
              <a:t>Its ICH E6(R2) severity classification</a:t>
            </a:r>
            <a:endParaRPr lang="en-US" sz="1200" dirty="0"/>
          </a:p>
          <a:p>
            <a:pPr marL="342900" indent="-342900">
              <a:lnSpc>
                <a:spcPct val="102000"/>
              </a:lnSpc>
              <a:spcAft>
                <a:spcPts val="700"/>
              </a:spcAft>
              <a:buSzPct val="100000"/>
              <a:buChar char="•"/>
            </a:pPr>
            <a:r>
              <a:rPr lang="en-US" sz="1200" dirty="0">
                <a:solidFill>
                  <a:srgbClr val="0F6E56"/>
                </a:solidFill>
                <a:latin typeface="Calibri" pitchFamily="34" charset="0"/>
                <a:ea typeface="Calibri" pitchFamily="34" charset="-122"/>
                <a:cs typeface="Calibri" pitchFamily="34" charset="-120"/>
              </a:rPr>
              <a:t>The site risk score and its tier</a:t>
            </a:r>
            <a:endParaRPr lang="en-US" sz="1200" dirty="0"/>
          </a:p>
          <a:p>
            <a:pPr marL="342900" indent="-342900">
              <a:lnSpc>
                <a:spcPct val="102000"/>
              </a:lnSpc>
              <a:spcAft>
                <a:spcPts val="700"/>
              </a:spcAft>
              <a:buSzPct val="100000"/>
              <a:buChar char="•"/>
            </a:pPr>
            <a:r>
              <a:rPr lang="en-US" sz="1200" dirty="0">
                <a:solidFill>
                  <a:srgbClr val="0F6E56"/>
                </a:solidFill>
                <a:latin typeface="Calibri" pitchFamily="34" charset="0"/>
                <a:ea typeface="Calibri" pitchFamily="34" charset="-122"/>
                <a:cs typeface="Calibri" pitchFamily="34" charset="-120"/>
              </a:rPr>
              <a:t>Which corrective and preventive actions are required</a:t>
            </a:r>
            <a:endParaRPr lang="en-US" sz="1200" dirty="0"/>
          </a:p>
          <a:p>
            <a:pPr marL="342900" indent="-342900">
              <a:lnSpc>
                <a:spcPct val="102000"/>
              </a:lnSpc>
              <a:spcAft>
                <a:spcPts val="700"/>
              </a:spcAft>
              <a:buSzPct val="100000"/>
              <a:buChar char="•"/>
            </a:pPr>
            <a:r>
              <a:rPr lang="en-US" sz="1200" dirty="0">
                <a:solidFill>
                  <a:srgbClr val="0F6E56"/>
                </a:solidFill>
                <a:latin typeface="Calibri" pitchFamily="34" charset="0"/>
                <a:ea typeface="Calibri" pitchFamily="34" charset="-122"/>
                <a:cs typeface="Calibri" pitchFamily="34" charset="-120"/>
              </a:rPr>
              <a:t>Every deadline, owner and review date in the CAPA</a:t>
            </a:r>
            <a:endParaRPr lang="en-US" sz="1200" dirty="0"/>
          </a:p>
        </p:txBody>
      </p:sp>
      <p:sp>
        <p:nvSpPr>
          <p:cNvPr id="8" name="Shape 6"/>
          <p:cNvSpPr/>
          <p:nvPr/>
        </p:nvSpPr>
        <p:spPr>
          <a:xfrm>
            <a:off x="6199632" y="1508760"/>
            <a:ext cx="5440680" cy="2606040"/>
          </a:xfrm>
          <a:prstGeom prst="roundRect">
            <a:avLst>
              <a:gd name="adj" fmla="val 2456"/>
            </a:avLst>
          </a:prstGeom>
          <a:solidFill>
            <a:srgbClr val="FAECE7"/>
          </a:solidFill>
          <a:ln w="9525">
            <a:solidFill>
              <a:srgbClr val="D85A30"/>
            </a:solidFill>
            <a:prstDash val="solid"/>
          </a:ln>
        </p:spPr>
      </p:sp>
      <p:sp>
        <p:nvSpPr>
          <p:cNvPr id="9" name="Text 7"/>
          <p:cNvSpPr txBox="1"/>
          <p:nvPr/>
        </p:nvSpPr>
        <p:spPr>
          <a:xfrm>
            <a:off x="6455664" y="1627632"/>
            <a:ext cx="4937760" cy="292608"/>
          </a:xfrm>
          <a:prstGeom prst="rect">
            <a:avLst/>
          </a:prstGeom>
          <a:noFill/>
          <a:ln/>
        </p:spPr>
        <p:txBody>
          <a:bodyPr wrap="square" lIns="0" tIns="0" rIns="0" bIns="0" rtlCol="0" anchor="ctr"/>
          <a:lstStyle/>
          <a:p>
            <a:pPr marL="0" indent="0">
              <a:buNone/>
            </a:pPr>
            <a:r>
              <a:rPr lang="en-US" sz="1700" b="1" dirty="0">
                <a:solidFill>
                  <a:srgbClr val="993C1D"/>
                </a:solidFill>
                <a:latin typeface="Calibri" pitchFamily="34" charset="0"/>
                <a:ea typeface="Calibri" pitchFamily="34" charset="-122"/>
                <a:cs typeface="Calibri" pitchFamily="34" charset="-120"/>
              </a:rPr>
              <a:t>What the AI touches</a:t>
            </a:r>
            <a:endParaRPr lang="en-US" sz="1700" dirty="0"/>
          </a:p>
        </p:txBody>
      </p:sp>
      <p:sp>
        <p:nvSpPr>
          <p:cNvPr id="10" name="Text 8"/>
          <p:cNvSpPr txBox="1"/>
          <p:nvPr/>
        </p:nvSpPr>
        <p:spPr>
          <a:xfrm>
            <a:off x="6455664" y="1993392"/>
            <a:ext cx="4937760" cy="132588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00" dirty="0">
                <a:solidFill>
                  <a:srgbClr val="993C1D"/>
                </a:solidFill>
                <a:latin typeface="Calibri" pitchFamily="34" charset="0"/>
                <a:ea typeface="Calibri" pitchFamily="34" charset="-122"/>
                <a:cs typeface="Calibri" pitchFamily="34" charset="-120"/>
              </a:rPr>
              <a:t>Wording of the CAPA executive summary</a:t>
            </a:r>
            <a:endParaRPr lang="en-US" sz="1200" dirty="0"/>
          </a:p>
          <a:p>
            <a:pPr marL="342900" indent="-342900">
              <a:lnSpc>
                <a:spcPct val="102000"/>
              </a:lnSpc>
              <a:spcAft>
                <a:spcPts val="700"/>
              </a:spcAft>
              <a:buSzPct val="100000"/>
              <a:buChar char="•"/>
            </a:pPr>
            <a:r>
              <a:rPr lang="en-US" sz="1200" dirty="0">
                <a:solidFill>
                  <a:srgbClr val="993C1D"/>
                </a:solidFill>
                <a:latin typeface="Calibri" pitchFamily="34" charset="0"/>
                <a:ea typeface="Calibri" pitchFamily="34" charset="-122"/>
                <a:cs typeface="Calibri" pitchFamily="34" charset="-120"/>
              </a:rPr>
              <a:t>Wording of the root cause narrative</a:t>
            </a:r>
            <a:endParaRPr lang="en-US" sz="1200" dirty="0"/>
          </a:p>
          <a:p>
            <a:pPr marL="342900" indent="-342900">
              <a:lnSpc>
                <a:spcPct val="102000"/>
              </a:lnSpc>
              <a:spcAft>
                <a:spcPts val="700"/>
              </a:spcAft>
              <a:buSzPct val="100000"/>
              <a:buChar char="•"/>
            </a:pPr>
            <a:r>
              <a:rPr lang="en-US" sz="1200" dirty="0">
                <a:solidFill>
                  <a:srgbClr val="993C1D"/>
                </a:solidFill>
                <a:latin typeface="Calibri" pitchFamily="34" charset="0"/>
                <a:ea typeface="Calibri" pitchFamily="34" charset="-122"/>
                <a:cs typeface="Calibri" pitchFamily="34" charset="-120"/>
              </a:rPr>
              <a:t>Phrasing of recommendation text</a:t>
            </a:r>
            <a:endParaRPr lang="en-US" sz="1200" dirty="0"/>
          </a:p>
          <a:p>
            <a:pPr marL="342900" indent="-342900">
              <a:lnSpc>
                <a:spcPct val="102000"/>
              </a:lnSpc>
              <a:spcAft>
                <a:spcPts val="700"/>
              </a:spcAft>
              <a:buSzPct val="100000"/>
              <a:buChar char="•"/>
            </a:pPr>
            <a:r>
              <a:rPr lang="en-US" sz="1200" dirty="0">
                <a:solidFill>
                  <a:srgbClr val="993C1D"/>
                </a:solidFill>
                <a:latin typeface="Calibri" pitchFamily="34" charset="0"/>
                <a:ea typeface="Calibri" pitchFamily="34" charset="-122"/>
                <a:cs typeface="Calibri" pitchFamily="34" charset="-120"/>
              </a:rPr>
              <a:t>Natural-language answers to auditor questions in Bob</a:t>
            </a:r>
            <a:endParaRPr lang="en-US" sz="1200" dirty="0"/>
          </a:p>
        </p:txBody>
      </p:sp>
      <p:sp>
        <p:nvSpPr>
          <p:cNvPr id="11" name="Text 9"/>
          <p:cNvSpPr txBox="1"/>
          <p:nvPr/>
        </p:nvSpPr>
        <p:spPr>
          <a:xfrm>
            <a:off x="6455664" y="3611880"/>
            <a:ext cx="4937760" cy="411480"/>
          </a:xfrm>
          <a:prstGeom prst="rect">
            <a:avLst/>
          </a:prstGeom>
          <a:noFill/>
          <a:ln/>
        </p:spPr>
        <p:txBody>
          <a:bodyPr wrap="square" lIns="0" tIns="0" rIns="0" bIns="0" rtlCol="0" anchor="ctr"/>
          <a:lstStyle/>
          <a:p>
            <a:pPr marL="0" indent="0">
              <a:buNone/>
            </a:pPr>
            <a:r>
              <a:rPr lang="en-US" sz="1100" i="1" dirty="0">
                <a:solidFill>
                  <a:srgbClr val="993C1D"/>
                </a:solidFill>
                <a:latin typeface="Cambria" pitchFamily="34" charset="0"/>
                <a:ea typeface="Cambria" pitchFamily="34" charset="-122"/>
                <a:cs typeface="Cambria" pitchFamily="34" charset="-120"/>
              </a:rPr>
              <a:t>No watsonx credentials configured means template text, zero breakage, no error path.</a:t>
            </a:r>
            <a:endParaRPr lang="en-US" sz="1100" dirty="0"/>
          </a:p>
        </p:txBody>
      </p:sp>
      <p:sp>
        <p:nvSpPr>
          <p:cNvPr id="12" name="Text 10"/>
          <p:cNvSpPr txBox="1"/>
          <p:nvPr/>
        </p:nvSpPr>
        <p:spPr>
          <a:xfrm>
            <a:off x="548640" y="4343400"/>
            <a:ext cx="11064240" cy="274320"/>
          </a:xfrm>
          <a:prstGeom prst="rect">
            <a:avLst/>
          </a:prstGeom>
          <a:noFill/>
          <a:ln/>
        </p:spPr>
        <p:txBody>
          <a:bodyPr wrap="square" lIns="0" tIns="0" rIns="0" bIns="0" rtlCol="0" anchor="ctr"/>
          <a:lstStyle/>
          <a:p>
            <a:pPr marL="0" indent="0">
              <a:buNone/>
            </a:pPr>
            <a:r>
              <a:rPr lang="en-US" sz="1500" b="1" dirty="0">
                <a:solidFill>
                  <a:srgbClr val="2C2C2A"/>
                </a:solidFill>
                <a:latin typeface="Calibri" pitchFamily="34" charset="0"/>
                <a:ea typeface="Calibri" pitchFamily="34" charset="-122"/>
                <a:cs typeface="Calibri" pitchFamily="34" charset="-120"/>
              </a:rPr>
              <a:t>Tech stack and standards</a:t>
            </a:r>
            <a:endParaRPr lang="en-US" sz="1500" dirty="0"/>
          </a:p>
        </p:txBody>
      </p:sp>
      <p:sp>
        <p:nvSpPr>
          <p:cNvPr id="13" name="Shape 11"/>
          <p:cNvSpPr/>
          <p:nvPr/>
        </p:nvSpPr>
        <p:spPr>
          <a:xfrm>
            <a:off x="548640" y="4690872"/>
            <a:ext cx="5376672" cy="374904"/>
          </a:xfrm>
          <a:prstGeom prst="roundRect">
            <a:avLst>
              <a:gd name="adj" fmla="val 12195"/>
            </a:avLst>
          </a:prstGeom>
          <a:solidFill>
            <a:srgbClr val="F1EFE8"/>
          </a:solidFill>
          <a:ln w="12700">
            <a:solidFill>
              <a:srgbClr val="F1EFE8"/>
            </a:solidFill>
            <a:prstDash val="solid"/>
          </a:ln>
        </p:spPr>
      </p:sp>
      <p:sp>
        <p:nvSpPr>
          <p:cNvPr id="14" name="Text 12"/>
          <p:cNvSpPr txBox="1"/>
          <p:nvPr/>
        </p:nvSpPr>
        <p:spPr>
          <a:xfrm>
            <a:off x="731520" y="4764024"/>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Frontend</a:t>
            </a:r>
            <a:endParaRPr lang="en-US" sz="1100" dirty="0"/>
          </a:p>
        </p:txBody>
      </p:sp>
      <p:sp>
        <p:nvSpPr>
          <p:cNvPr id="15" name="Text 13"/>
          <p:cNvSpPr txBox="1"/>
          <p:nvPr/>
        </p:nvSpPr>
        <p:spPr>
          <a:xfrm>
            <a:off x="2240280" y="4764024"/>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React 18, Vite, Recharts, React Router</a:t>
            </a:r>
            <a:endParaRPr lang="en-US" sz="1100" dirty="0"/>
          </a:p>
        </p:txBody>
      </p:sp>
      <p:sp>
        <p:nvSpPr>
          <p:cNvPr id="16" name="Shape 14"/>
          <p:cNvSpPr/>
          <p:nvPr/>
        </p:nvSpPr>
        <p:spPr>
          <a:xfrm>
            <a:off x="6263640" y="4690872"/>
            <a:ext cx="5376672" cy="374904"/>
          </a:xfrm>
          <a:prstGeom prst="roundRect">
            <a:avLst>
              <a:gd name="adj" fmla="val 12195"/>
            </a:avLst>
          </a:prstGeom>
          <a:solidFill>
            <a:srgbClr val="F1EFE8"/>
          </a:solidFill>
          <a:ln w="12700">
            <a:solidFill>
              <a:srgbClr val="F1EFE8"/>
            </a:solidFill>
            <a:prstDash val="solid"/>
          </a:ln>
        </p:spPr>
      </p:sp>
      <p:sp>
        <p:nvSpPr>
          <p:cNvPr id="17" name="Text 15"/>
          <p:cNvSpPr txBox="1"/>
          <p:nvPr/>
        </p:nvSpPr>
        <p:spPr>
          <a:xfrm>
            <a:off x="6446520" y="4764024"/>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Backend</a:t>
            </a:r>
            <a:endParaRPr lang="en-US" sz="1100" dirty="0"/>
          </a:p>
        </p:txBody>
      </p:sp>
      <p:sp>
        <p:nvSpPr>
          <p:cNvPr id="18" name="Text 16"/>
          <p:cNvSpPr txBox="1"/>
          <p:nvPr/>
        </p:nvSpPr>
        <p:spPr>
          <a:xfrm>
            <a:off x="7955280" y="4764024"/>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Python, FastAPI, Uvicorn</a:t>
            </a:r>
            <a:endParaRPr lang="en-US" sz="1100" dirty="0"/>
          </a:p>
        </p:txBody>
      </p:sp>
      <p:sp>
        <p:nvSpPr>
          <p:cNvPr id="19" name="Shape 17"/>
          <p:cNvSpPr/>
          <p:nvPr/>
        </p:nvSpPr>
        <p:spPr>
          <a:xfrm>
            <a:off x="548640" y="5111496"/>
            <a:ext cx="5376672" cy="374904"/>
          </a:xfrm>
          <a:prstGeom prst="roundRect">
            <a:avLst>
              <a:gd name="adj" fmla="val 12195"/>
            </a:avLst>
          </a:prstGeom>
          <a:solidFill>
            <a:srgbClr val="F1EFE8"/>
          </a:solidFill>
          <a:ln w="12700">
            <a:solidFill>
              <a:srgbClr val="F1EFE8"/>
            </a:solidFill>
            <a:prstDash val="solid"/>
          </a:ln>
        </p:spPr>
      </p:sp>
      <p:sp>
        <p:nvSpPr>
          <p:cNvPr id="20" name="Text 18"/>
          <p:cNvSpPr txBox="1"/>
          <p:nvPr/>
        </p:nvSpPr>
        <p:spPr>
          <a:xfrm>
            <a:off x="731520" y="5184648"/>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Database</a:t>
            </a:r>
            <a:endParaRPr lang="en-US" sz="1100" dirty="0"/>
          </a:p>
        </p:txBody>
      </p:sp>
      <p:sp>
        <p:nvSpPr>
          <p:cNvPr id="21" name="Text 19"/>
          <p:cNvSpPr txBox="1"/>
          <p:nvPr/>
        </p:nvSpPr>
        <p:spPr>
          <a:xfrm>
            <a:off x="2240280" y="5184648"/>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Supabase (PostgreSQL) with Row Level Security</a:t>
            </a:r>
            <a:endParaRPr lang="en-US" sz="1100" dirty="0"/>
          </a:p>
        </p:txBody>
      </p:sp>
      <p:sp>
        <p:nvSpPr>
          <p:cNvPr id="22" name="Shape 20"/>
          <p:cNvSpPr/>
          <p:nvPr/>
        </p:nvSpPr>
        <p:spPr>
          <a:xfrm>
            <a:off x="6263640" y="5111496"/>
            <a:ext cx="5376672" cy="374904"/>
          </a:xfrm>
          <a:prstGeom prst="roundRect">
            <a:avLst>
              <a:gd name="adj" fmla="val 12195"/>
            </a:avLst>
          </a:prstGeom>
          <a:solidFill>
            <a:srgbClr val="F1EFE8"/>
          </a:solidFill>
          <a:ln w="12700">
            <a:solidFill>
              <a:srgbClr val="F1EFE8"/>
            </a:solidFill>
            <a:prstDash val="solid"/>
          </a:ln>
        </p:spPr>
      </p:sp>
      <p:sp>
        <p:nvSpPr>
          <p:cNvPr id="23" name="Text 21"/>
          <p:cNvSpPr txBox="1"/>
          <p:nvPr/>
        </p:nvSpPr>
        <p:spPr>
          <a:xfrm>
            <a:off x="6446520" y="5184648"/>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Data access</a:t>
            </a:r>
            <a:endParaRPr lang="en-US" sz="1100" dirty="0"/>
          </a:p>
        </p:txBody>
      </p:sp>
      <p:sp>
        <p:nvSpPr>
          <p:cNvPr id="24" name="Text 22"/>
          <p:cNvSpPr txBox="1"/>
          <p:nvPr/>
        </p:nvSpPr>
        <p:spPr>
          <a:xfrm>
            <a:off x="7955280" y="5184648"/>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DataSource adapter pattern (abstract base class)</a:t>
            </a:r>
            <a:endParaRPr lang="en-US" sz="1100" dirty="0"/>
          </a:p>
        </p:txBody>
      </p:sp>
      <p:sp>
        <p:nvSpPr>
          <p:cNvPr id="25" name="Shape 23"/>
          <p:cNvSpPr/>
          <p:nvPr/>
        </p:nvSpPr>
        <p:spPr>
          <a:xfrm>
            <a:off x="548640" y="5532120"/>
            <a:ext cx="5376672" cy="374904"/>
          </a:xfrm>
          <a:prstGeom prst="roundRect">
            <a:avLst>
              <a:gd name="adj" fmla="val 12195"/>
            </a:avLst>
          </a:prstGeom>
          <a:solidFill>
            <a:srgbClr val="F1EFE8"/>
          </a:solidFill>
          <a:ln w="12700">
            <a:solidFill>
              <a:srgbClr val="F1EFE8"/>
            </a:solidFill>
            <a:prstDash val="solid"/>
          </a:ln>
        </p:spPr>
      </p:sp>
      <p:sp>
        <p:nvSpPr>
          <p:cNvPr id="26" name="Text 24"/>
          <p:cNvSpPr txBox="1"/>
          <p:nvPr/>
        </p:nvSpPr>
        <p:spPr>
          <a:xfrm>
            <a:off x="731520" y="5605272"/>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AI / LLM</a:t>
            </a:r>
            <a:endParaRPr lang="en-US" sz="1100" dirty="0"/>
          </a:p>
        </p:txBody>
      </p:sp>
      <p:sp>
        <p:nvSpPr>
          <p:cNvPr id="27" name="Text 25"/>
          <p:cNvSpPr txBox="1"/>
          <p:nvPr/>
        </p:nvSpPr>
        <p:spPr>
          <a:xfrm>
            <a:off x="2240280" y="5605272"/>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IBM watsonx.ai — Granite 3-8B Instruct</a:t>
            </a:r>
            <a:endParaRPr lang="en-US" sz="1100" dirty="0"/>
          </a:p>
        </p:txBody>
      </p:sp>
      <p:sp>
        <p:nvSpPr>
          <p:cNvPr id="28" name="Shape 26"/>
          <p:cNvSpPr/>
          <p:nvPr/>
        </p:nvSpPr>
        <p:spPr>
          <a:xfrm>
            <a:off x="6263640" y="5532120"/>
            <a:ext cx="5376672" cy="374904"/>
          </a:xfrm>
          <a:prstGeom prst="roundRect">
            <a:avLst>
              <a:gd name="adj" fmla="val 12195"/>
            </a:avLst>
          </a:prstGeom>
          <a:solidFill>
            <a:srgbClr val="F1EFE8"/>
          </a:solidFill>
          <a:ln w="12700">
            <a:solidFill>
              <a:srgbClr val="F1EFE8"/>
            </a:solidFill>
            <a:prstDash val="solid"/>
          </a:ln>
        </p:spPr>
      </p:sp>
      <p:sp>
        <p:nvSpPr>
          <p:cNvPr id="29" name="Text 27"/>
          <p:cNvSpPr txBox="1"/>
          <p:nvPr/>
        </p:nvSpPr>
        <p:spPr>
          <a:xfrm>
            <a:off x="6446520" y="5605272"/>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AI integration</a:t>
            </a:r>
            <a:endParaRPr lang="en-US" sz="1100" dirty="0"/>
          </a:p>
        </p:txBody>
      </p:sp>
      <p:sp>
        <p:nvSpPr>
          <p:cNvPr id="30" name="Text 28"/>
          <p:cNvSpPr txBox="1"/>
          <p:nvPr/>
        </p:nvSpPr>
        <p:spPr>
          <a:xfrm>
            <a:off x="7955280" y="5605272"/>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MCP Python SDK v2 (Model Context Protocol)</a:t>
            </a:r>
            <a:endParaRPr lang="en-US" sz="1100" dirty="0"/>
          </a:p>
        </p:txBody>
      </p:sp>
      <p:sp>
        <p:nvSpPr>
          <p:cNvPr id="31" name="Shape 29"/>
          <p:cNvSpPr/>
          <p:nvPr/>
        </p:nvSpPr>
        <p:spPr>
          <a:xfrm>
            <a:off x="548640" y="5952744"/>
            <a:ext cx="5376672" cy="374904"/>
          </a:xfrm>
          <a:prstGeom prst="roundRect">
            <a:avLst>
              <a:gd name="adj" fmla="val 12195"/>
            </a:avLst>
          </a:prstGeom>
          <a:solidFill>
            <a:srgbClr val="F1EFE8"/>
          </a:solidFill>
          <a:ln w="12700">
            <a:solidFill>
              <a:srgbClr val="F1EFE8"/>
            </a:solidFill>
            <a:prstDash val="solid"/>
          </a:ln>
        </p:spPr>
      </p:sp>
      <p:sp>
        <p:nvSpPr>
          <p:cNvPr id="32" name="Text 30"/>
          <p:cNvSpPr txBox="1"/>
          <p:nvPr/>
        </p:nvSpPr>
        <p:spPr>
          <a:xfrm>
            <a:off x="731520" y="6025896"/>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Standards</a:t>
            </a:r>
            <a:endParaRPr lang="en-US" sz="1100" dirty="0"/>
          </a:p>
        </p:txBody>
      </p:sp>
      <p:sp>
        <p:nvSpPr>
          <p:cNvPr id="33" name="Text 31"/>
          <p:cNvSpPr txBox="1"/>
          <p:nvPr/>
        </p:nvSpPr>
        <p:spPr>
          <a:xfrm>
            <a:off x="2240280" y="6025896"/>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HL7 FHIR R4, CDISC SDTM, ICH E6(R2) GCP</a:t>
            </a:r>
            <a:endParaRPr lang="en-US" sz="1100" dirty="0"/>
          </a:p>
        </p:txBody>
      </p:sp>
      <p:sp>
        <p:nvSpPr>
          <p:cNvPr id="34" name="Shape 32"/>
          <p:cNvSpPr/>
          <p:nvPr/>
        </p:nvSpPr>
        <p:spPr>
          <a:xfrm>
            <a:off x="6263640" y="5952744"/>
            <a:ext cx="5376672" cy="374904"/>
          </a:xfrm>
          <a:prstGeom prst="roundRect">
            <a:avLst>
              <a:gd name="adj" fmla="val 12195"/>
            </a:avLst>
          </a:prstGeom>
          <a:solidFill>
            <a:srgbClr val="F1EFE8"/>
          </a:solidFill>
          <a:ln w="12700">
            <a:solidFill>
              <a:srgbClr val="F1EFE8"/>
            </a:solidFill>
            <a:prstDash val="solid"/>
          </a:ln>
        </p:spPr>
      </p:sp>
      <p:sp>
        <p:nvSpPr>
          <p:cNvPr id="35" name="Text 33"/>
          <p:cNvSpPr txBox="1"/>
          <p:nvPr/>
        </p:nvSpPr>
        <p:spPr>
          <a:xfrm>
            <a:off x="6446520" y="6025896"/>
            <a:ext cx="1463040" cy="237744"/>
          </a:xfrm>
          <a:prstGeom prst="rect">
            <a:avLst/>
          </a:prstGeom>
          <a:noFill/>
          <a:ln/>
        </p:spPr>
        <p:txBody>
          <a:bodyPr wrap="square" lIns="0" tIns="0" rIns="0" bIns="0" rtlCol="0" anchor="ctr"/>
          <a:lstStyle/>
          <a:p>
            <a:pPr marL="0" indent="0">
              <a:buNone/>
            </a:pPr>
            <a:r>
              <a:rPr lang="en-US" sz="1100" b="1" dirty="0">
                <a:solidFill>
                  <a:srgbClr val="0F6E56"/>
                </a:solidFill>
                <a:latin typeface="Calibri" pitchFamily="34" charset="0"/>
                <a:ea typeface="Calibri" pitchFamily="34" charset="-122"/>
                <a:cs typeface="Calibri" pitchFamily="34" charset="-120"/>
              </a:rPr>
              <a:t>Data</a:t>
            </a:r>
            <a:endParaRPr lang="en-US" sz="1100" dirty="0"/>
          </a:p>
        </p:txBody>
      </p:sp>
      <p:sp>
        <p:nvSpPr>
          <p:cNvPr id="36" name="Text 34"/>
          <p:cNvSpPr txBox="1"/>
          <p:nvPr/>
        </p:nvSpPr>
        <p:spPr>
          <a:xfrm>
            <a:off x="7955280" y="6025896"/>
            <a:ext cx="3566160" cy="237744"/>
          </a:xfrm>
          <a:prstGeom prst="rect">
            <a:avLst/>
          </a:prstGeom>
          <a:noFill/>
          <a:ln/>
        </p:spPr>
        <p:txBody>
          <a:bodyPr wrap="square" lIns="0" tIns="0" rIns="0" bIns="0" rtlCol="0" anchor="ctr"/>
          <a:lstStyle/>
          <a:p>
            <a:pPr marL="0" indent="0">
              <a:buNone/>
            </a:pPr>
            <a:r>
              <a:rPr lang="en-US" sz="1100" dirty="0">
                <a:solidFill>
                  <a:srgbClr val="2C2C2A"/>
                </a:solidFill>
                <a:latin typeface="Calibri" pitchFamily="34" charset="0"/>
                <a:ea typeface="Calibri" pitchFamily="34" charset="-122"/>
                <a:cs typeface="Calibri" pitchFamily="34" charset="-120"/>
              </a:rPr>
              <a:t>Synthetic, HIPAA-compliant — no real patient data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64240" cy="219456"/>
          </a:xfrm>
          <a:prstGeom prst="rect">
            <a:avLst/>
          </a:prstGeom>
          <a:noFill/>
          <a:ln/>
        </p:spPr>
        <p:txBody>
          <a:bodyPr wrap="square" lIns="0" tIns="0" rIns="0" bIns="0" rtlCol="0" anchor="ctr"/>
          <a:lstStyle/>
          <a:p>
            <a:pPr marL="0" indent="0">
              <a:buNone/>
            </a:pPr>
            <a:r>
              <a:rPr lang="en-US" sz="1050" b="1" kern="0" spc="200" dirty="0">
                <a:solidFill>
                  <a:srgbClr val="1D9E75"/>
                </a:solidFill>
                <a:latin typeface="Calibri" pitchFamily="34" charset="0"/>
                <a:ea typeface="Calibri" pitchFamily="34" charset="-122"/>
                <a:cs typeface="Calibri" pitchFamily="34" charset="-120"/>
              </a:rPr>
              <a:t>OUTCOMES</a:t>
            </a:r>
            <a:endParaRPr lang="en-US" sz="1050" dirty="0"/>
          </a:p>
        </p:txBody>
      </p:sp>
      <p:sp>
        <p:nvSpPr>
          <p:cNvPr id="3" name="Text 1"/>
          <p:cNvSpPr txBox="1"/>
          <p:nvPr/>
        </p:nvSpPr>
        <p:spPr>
          <a:xfrm>
            <a:off x="548640" y="493776"/>
            <a:ext cx="11064240" cy="512064"/>
          </a:xfrm>
          <a:prstGeom prst="rect">
            <a:avLst/>
          </a:prstGeom>
          <a:noFill/>
          <a:ln/>
        </p:spPr>
        <p:txBody>
          <a:bodyPr wrap="square" lIns="0" tIns="0" rIns="0" bIns="0" rtlCol="0" anchor="ctr"/>
          <a:lstStyle/>
          <a:p>
            <a:pPr marL="0" indent="0">
              <a:buNone/>
            </a:pPr>
            <a:r>
              <a:rPr lang="en-US" sz="3100" b="1" dirty="0">
                <a:solidFill>
                  <a:srgbClr val="2C2C2A"/>
                </a:solidFill>
                <a:latin typeface="Cambria" pitchFamily="34" charset="0"/>
                <a:ea typeface="Cambria" pitchFamily="34" charset="-122"/>
                <a:cs typeface="Cambria" pitchFamily="34" charset="-120"/>
              </a:rPr>
              <a:t>Impact and what comes next</a:t>
            </a:r>
            <a:endParaRPr lang="en-US" sz="3100" dirty="0"/>
          </a:p>
        </p:txBody>
      </p:sp>
      <p:sp>
        <p:nvSpPr>
          <p:cNvPr id="4" name="Text 2"/>
          <p:cNvSpPr txBox="1"/>
          <p:nvPr/>
        </p:nvSpPr>
        <p:spPr>
          <a:xfrm>
            <a:off x="548640" y="1143000"/>
            <a:ext cx="5440680" cy="292608"/>
          </a:xfrm>
          <a:prstGeom prst="rect">
            <a:avLst/>
          </a:prstGeom>
          <a:noFill/>
          <a:ln/>
        </p:spPr>
        <p:txBody>
          <a:bodyPr wrap="square" lIns="0" tIns="0" rIns="0" bIns="0" rtlCol="0" anchor="ctr"/>
          <a:lstStyle/>
          <a:p>
            <a:pPr marL="0" indent="0">
              <a:buNone/>
            </a:pPr>
            <a:r>
              <a:rPr lang="en-US" sz="1700" b="1" dirty="0">
                <a:solidFill>
                  <a:srgbClr val="0F6E56"/>
                </a:solidFill>
                <a:latin typeface="Calibri" pitchFamily="34" charset="0"/>
                <a:ea typeface="Calibri" pitchFamily="34" charset="-122"/>
                <a:cs typeface="Calibri" pitchFamily="34" charset="-120"/>
              </a:rPr>
              <a:t>Delivered today</a:t>
            </a:r>
            <a:endParaRPr lang="en-US" sz="1700" dirty="0"/>
          </a:p>
        </p:txBody>
      </p:sp>
      <p:sp>
        <p:nvSpPr>
          <p:cNvPr id="5" name="Shape 3"/>
          <p:cNvSpPr/>
          <p:nvPr/>
        </p:nvSpPr>
        <p:spPr>
          <a:xfrm>
            <a:off x="548640" y="1508760"/>
            <a:ext cx="5440680" cy="685800"/>
          </a:xfrm>
          <a:prstGeom prst="roundRect">
            <a:avLst>
              <a:gd name="adj" fmla="val 9333"/>
            </a:avLst>
          </a:prstGeom>
          <a:solidFill>
            <a:srgbClr val="E1F5EE"/>
          </a:solidFill>
          <a:ln w="9525">
            <a:solidFill>
              <a:srgbClr val="1D9E75"/>
            </a:solidFill>
            <a:prstDash val="solid"/>
          </a:ln>
        </p:spPr>
      </p:sp>
      <p:sp>
        <p:nvSpPr>
          <p:cNvPr id="6" name="Text 4"/>
          <p:cNvSpPr txBox="1"/>
          <p:nvPr/>
        </p:nvSpPr>
        <p:spPr>
          <a:xfrm>
            <a:off x="777240" y="1581912"/>
            <a:ext cx="4983480" cy="237744"/>
          </a:xfrm>
          <a:prstGeom prst="rect">
            <a:avLst/>
          </a:prstGeom>
          <a:noFill/>
          <a:ln/>
        </p:spPr>
        <p:txBody>
          <a:bodyPr wrap="square" lIns="0" tIns="0" rIns="0" bIns="0" rtlCol="0" anchor="ctr"/>
          <a:lstStyle/>
          <a:p>
            <a:pPr marL="0" indent="0">
              <a:buNone/>
            </a:pPr>
            <a:r>
              <a:rPr lang="en-US" sz="1300" b="1" dirty="0">
                <a:solidFill>
                  <a:srgbClr val="0F6E56"/>
                </a:solidFill>
                <a:latin typeface="Calibri" pitchFamily="34" charset="0"/>
                <a:ea typeface="Calibri" pitchFamily="34" charset="-122"/>
                <a:cs typeface="Calibri" pitchFamily="34" charset="-120"/>
              </a:rPr>
              <a:t>100% coverage</a:t>
            </a:r>
            <a:endParaRPr lang="en-US" sz="1300" dirty="0"/>
          </a:p>
        </p:txBody>
      </p:sp>
      <p:sp>
        <p:nvSpPr>
          <p:cNvPr id="7" name="Text 5"/>
          <p:cNvSpPr txBox="1"/>
          <p:nvPr/>
        </p:nvSpPr>
        <p:spPr>
          <a:xfrm>
            <a:off x="777240" y="1837944"/>
            <a:ext cx="4983480" cy="292608"/>
          </a:xfrm>
          <a:prstGeom prst="rect">
            <a:avLst/>
          </a:prstGeom>
          <a:noFill/>
          <a:ln/>
        </p:spPr>
        <p:txBody>
          <a:bodyPr wrap="square" lIns="0" tIns="0" rIns="0" bIns="0" rtlCol="0" anchor="ctr"/>
          <a:lstStyle/>
          <a:p>
            <a:pPr marL="0" indent="0">
              <a:buNone/>
            </a:pPr>
            <a:r>
              <a:rPr lang="en-US" sz="1050" dirty="0">
                <a:solidFill>
                  <a:srgbClr val="0F6E56"/>
                </a:solidFill>
                <a:latin typeface="Calibri" pitchFamily="34" charset="0"/>
                <a:ea typeface="Calibri" pitchFamily="34" charset="-122"/>
                <a:cs typeface="Calibri" pitchFamily="34" charset="-120"/>
              </a:rPr>
              <a:t>Every visit checked, not a 10% sample — the blind spot disappears</a:t>
            </a:r>
            <a:endParaRPr lang="en-US" sz="1050" dirty="0"/>
          </a:p>
        </p:txBody>
      </p:sp>
      <p:sp>
        <p:nvSpPr>
          <p:cNvPr id="8" name="Shape 6"/>
          <p:cNvSpPr/>
          <p:nvPr/>
        </p:nvSpPr>
        <p:spPr>
          <a:xfrm>
            <a:off x="548640" y="2286000"/>
            <a:ext cx="5440680" cy="685800"/>
          </a:xfrm>
          <a:prstGeom prst="roundRect">
            <a:avLst>
              <a:gd name="adj" fmla="val 9333"/>
            </a:avLst>
          </a:prstGeom>
          <a:solidFill>
            <a:srgbClr val="E1F5EE"/>
          </a:solidFill>
          <a:ln w="9525">
            <a:solidFill>
              <a:srgbClr val="1D9E75"/>
            </a:solidFill>
            <a:prstDash val="solid"/>
          </a:ln>
        </p:spPr>
      </p:sp>
      <p:sp>
        <p:nvSpPr>
          <p:cNvPr id="9" name="Text 7"/>
          <p:cNvSpPr txBox="1"/>
          <p:nvPr/>
        </p:nvSpPr>
        <p:spPr>
          <a:xfrm>
            <a:off x="777240" y="2359152"/>
            <a:ext cx="4983480" cy="237744"/>
          </a:xfrm>
          <a:prstGeom prst="rect">
            <a:avLst/>
          </a:prstGeom>
          <a:noFill/>
          <a:ln/>
        </p:spPr>
        <p:txBody>
          <a:bodyPr wrap="square" lIns="0" tIns="0" rIns="0" bIns="0" rtlCol="0" anchor="ctr"/>
          <a:lstStyle/>
          <a:p>
            <a:pPr marL="0" indent="0">
              <a:buNone/>
            </a:pPr>
            <a:r>
              <a:rPr lang="en-US" sz="1300" b="1" dirty="0">
                <a:solidFill>
                  <a:srgbClr val="0F6E56"/>
                </a:solidFill>
                <a:latin typeface="Calibri" pitchFamily="34" charset="0"/>
                <a:ea typeface="Calibri" pitchFamily="34" charset="-122"/>
                <a:cs typeface="Calibri" pitchFamily="34" charset="-120"/>
              </a:rPr>
              <a:t>Real-time detection</a:t>
            </a:r>
            <a:endParaRPr lang="en-US" sz="1300" dirty="0"/>
          </a:p>
        </p:txBody>
      </p:sp>
      <p:sp>
        <p:nvSpPr>
          <p:cNvPr id="10" name="Text 8"/>
          <p:cNvSpPr txBox="1"/>
          <p:nvPr/>
        </p:nvSpPr>
        <p:spPr>
          <a:xfrm>
            <a:off x="777240" y="2615184"/>
            <a:ext cx="4983480" cy="292608"/>
          </a:xfrm>
          <a:prstGeom prst="rect">
            <a:avLst/>
          </a:prstGeom>
          <a:noFill/>
          <a:ln/>
        </p:spPr>
        <p:txBody>
          <a:bodyPr wrap="square" lIns="0" tIns="0" rIns="0" bIns="0" rtlCol="0" anchor="ctr"/>
          <a:lstStyle/>
          <a:p>
            <a:pPr marL="0" indent="0">
              <a:buNone/>
            </a:pPr>
            <a:r>
              <a:rPr lang="en-US" sz="1050" dirty="0">
                <a:solidFill>
                  <a:srgbClr val="0F6E56"/>
                </a:solidFill>
                <a:latin typeface="Calibri" pitchFamily="34" charset="0"/>
                <a:ea typeface="Calibri" pitchFamily="34" charset="-122"/>
                <a:cs typeface="Calibri" pitchFamily="34" charset="-120"/>
              </a:rPr>
              <a:t>Violations surface while the site can still correct course</a:t>
            </a:r>
            <a:endParaRPr lang="en-US" sz="1050" dirty="0"/>
          </a:p>
        </p:txBody>
      </p:sp>
      <p:sp>
        <p:nvSpPr>
          <p:cNvPr id="11" name="Shape 9"/>
          <p:cNvSpPr/>
          <p:nvPr/>
        </p:nvSpPr>
        <p:spPr>
          <a:xfrm>
            <a:off x="548640" y="3063240"/>
            <a:ext cx="5440680" cy="685800"/>
          </a:xfrm>
          <a:prstGeom prst="roundRect">
            <a:avLst>
              <a:gd name="adj" fmla="val 9333"/>
            </a:avLst>
          </a:prstGeom>
          <a:solidFill>
            <a:srgbClr val="E1F5EE"/>
          </a:solidFill>
          <a:ln w="9525">
            <a:solidFill>
              <a:srgbClr val="1D9E75"/>
            </a:solidFill>
            <a:prstDash val="solid"/>
          </a:ln>
        </p:spPr>
      </p:sp>
      <p:sp>
        <p:nvSpPr>
          <p:cNvPr id="12" name="Text 10"/>
          <p:cNvSpPr txBox="1"/>
          <p:nvPr/>
        </p:nvSpPr>
        <p:spPr>
          <a:xfrm>
            <a:off x="777240" y="3136392"/>
            <a:ext cx="4983480" cy="237744"/>
          </a:xfrm>
          <a:prstGeom prst="rect">
            <a:avLst/>
          </a:prstGeom>
          <a:noFill/>
          <a:ln/>
        </p:spPr>
        <p:txBody>
          <a:bodyPr wrap="square" lIns="0" tIns="0" rIns="0" bIns="0" rtlCol="0" anchor="ctr"/>
          <a:lstStyle/>
          <a:p>
            <a:pPr marL="0" indent="0">
              <a:buNone/>
            </a:pPr>
            <a:r>
              <a:rPr lang="en-US" sz="1300" b="1" dirty="0">
                <a:solidFill>
                  <a:srgbClr val="0F6E56"/>
                </a:solidFill>
                <a:latin typeface="Calibri" pitchFamily="34" charset="0"/>
                <a:ea typeface="Calibri" pitchFamily="34" charset="-122"/>
                <a:cs typeface="Calibri" pitchFamily="34" charset="-120"/>
              </a:rPr>
              <a:t>Weeks to seconds</a:t>
            </a:r>
            <a:endParaRPr lang="en-US" sz="1300" dirty="0"/>
          </a:p>
        </p:txBody>
      </p:sp>
      <p:sp>
        <p:nvSpPr>
          <p:cNvPr id="13" name="Text 11"/>
          <p:cNvSpPr txBox="1"/>
          <p:nvPr/>
        </p:nvSpPr>
        <p:spPr>
          <a:xfrm>
            <a:off x="777240" y="3392424"/>
            <a:ext cx="4983480" cy="292608"/>
          </a:xfrm>
          <a:prstGeom prst="rect">
            <a:avLst/>
          </a:prstGeom>
          <a:noFill/>
          <a:ln/>
        </p:spPr>
        <p:txBody>
          <a:bodyPr wrap="square" lIns="0" tIns="0" rIns="0" bIns="0" rtlCol="0" anchor="ctr"/>
          <a:lstStyle/>
          <a:p>
            <a:pPr marL="0" indent="0">
              <a:buNone/>
            </a:pPr>
            <a:r>
              <a:rPr lang="en-US" sz="1050" dirty="0">
                <a:solidFill>
                  <a:srgbClr val="0F6E56"/>
                </a:solidFill>
                <a:latin typeface="Calibri" pitchFamily="34" charset="0"/>
                <a:ea typeface="Calibri" pitchFamily="34" charset="-122"/>
                <a:cs typeface="Calibri" pitchFamily="34" charset="-120"/>
              </a:rPr>
              <a:t>A full 210-site audit finishes faster than a CRA books a flight</a:t>
            </a:r>
            <a:endParaRPr lang="en-US" sz="1050" dirty="0"/>
          </a:p>
        </p:txBody>
      </p:sp>
      <p:sp>
        <p:nvSpPr>
          <p:cNvPr id="14" name="Shape 12"/>
          <p:cNvSpPr/>
          <p:nvPr/>
        </p:nvSpPr>
        <p:spPr>
          <a:xfrm>
            <a:off x="548640" y="3840480"/>
            <a:ext cx="5440680" cy="685800"/>
          </a:xfrm>
          <a:prstGeom prst="roundRect">
            <a:avLst>
              <a:gd name="adj" fmla="val 9333"/>
            </a:avLst>
          </a:prstGeom>
          <a:solidFill>
            <a:srgbClr val="E1F5EE"/>
          </a:solidFill>
          <a:ln w="9525">
            <a:solidFill>
              <a:srgbClr val="1D9E75"/>
            </a:solidFill>
            <a:prstDash val="solid"/>
          </a:ln>
        </p:spPr>
      </p:sp>
      <p:sp>
        <p:nvSpPr>
          <p:cNvPr id="15" name="Text 13"/>
          <p:cNvSpPr txBox="1"/>
          <p:nvPr/>
        </p:nvSpPr>
        <p:spPr>
          <a:xfrm>
            <a:off x="777240" y="3913632"/>
            <a:ext cx="4983480" cy="237744"/>
          </a:xfrm>
          <a:prstGeom prst="rect">
            <a:avLst/>
          </a:prstGeom>
          <a:noFill/>
          <a:ln/>
        </p:spPr>
        <p:txBody>
          <a:bodyPr wrap="square" lIns="0" tIns="0" rIns="0" bIns="0" rtlCol="0" anchor="ctr"/>
          <a:lstStyle/>
          <a:p>
            <a:pPr marL="0" indent="0">
              <a:buNone/>
            </a:pPr>
            <a:r>
              <a:rPr lang="en-US" sz="1300" b="1" dirty="0">
                <a:solidFill>
                  <a:srgbClr val="0F6E56"/>
                </a:solidFill>
                <a:latin typeface="Calibri" pitchFamily="34" charset="0"/>
                <a:ea typeface="Calibri" pitchFamily="34" charset="-122"/>
                <a:cs typeface="Calibri" pitchFamily="34" charset="-120"/>
              </a:rPr>
              <a:t>Regulatory-ready output</a:t>
            </a:r>
            <a:endParaRPr lang="en-US" sz="1300" dirty="0"/>
          </a:p>
        </p:txBody>
      </p:sp>
      <p:sp>
        <p:nvSpPr>
          <p:cNvPr id="16" name="Text 14"/>
          <p:cNvSpPr txBox="1"/>
          <p:nvPr/>
        </p:nvSpPr>
        <p:spPr>
          <a:xfrm>
            <a:off x="777240" y="4169664"/>
            <a:ext cx="4983480" cy="292608"/>
          </a:xfrm>
          <a:prstGeom prst="rect">
            <a:avLst/>
          </a:prstGeom>
          <a:noFill/>
          <a:ln/>
        </p:spPr>
        <p:txBody>
          <a:bodyPr wrap="square" lIns="0" tIns="0" rIns="0" bIns="0" rtlCol="0" anchor="ctr"/>
          <a:lstStyle/>
          <a:p>
            <a:pPr marL="0" indent="0">
              <a:buNone/>
            </a:pPr>
            <a:r>
              <a:rPr lang="en-US" sz="1050" dirty="0">
                <a:solidFill>
                  <a:srgbClr val="0F6E56"/>
                </a:solidFill>
                <a:latin typeface="Calibri" pitchFamily="34" charset="0"/>
                <a:ea typeface="Calibri" pitchFamily="34" charset="-122"/>
                <a:cs typeface="Calibri" pitchFamily="34" charset="-120"/>
              </a:rPr>
              <a:t>CAPA per ICH E6(R2); exports in HL7 FHIR R4 and CDISC SDTM</a:t>
            </a:r>
            <a:endParaRPr lang="en-US" sz="1050" dirty="0"/>
          </a:p>
        </p:txBody>
      </p:sp>
      <p:sp>
        <p:nvSpPr>
          <p:cNvPr id="17" name="Text 15"/>
          <p:cNvSpPr txBox="1"/>
          <p:nvPr/>
        </p:nvSpPr>
        <p:spPr>
          <a:xfrm>
            <a:off x="6199632" y="1143000"/>
            <a:ext cx="5440680" cy="292608"/>
          </a:xfrm>
          <a:prstGeom prst="rect">
            <a:avLst/>
          </a:prstGeom>
          <a:noFill/>
          <a:ln/>
        </p:spPr>
        <p:txBody>
          <a:bodyPr wrap="square" lIns="0" tIns="0" rIns="0" bIns="0" rtlCol="0" anchor="ctr"/>
          <a:lstStyle/>
          <a:p>
            <a:pPr marL="0" indent="0">
              <a:buNone/>
            </a:pPr>
            <a:r>
              <a:rPr lang="en-US" sz="1700" b="1" dirty="0">
                <a:solidFill>
                  <a:srgbClr val="534AB7"/>
                </a:solidFill>
                <a:latin typeface="Calibri" pitchFamily="34" charset="0"/>
                <a:ea typeface="Calibri" pitchFamily="34" charset="-122"/>
                <a:cs typeface="Calibri" pitchFamily="34" charset="-120"/>
              </a:rPr>
              <a:t>Where it goes</a:t>
            </a:r>
            <a:endParaRPr lang="en-US" sz="1700" dirty="0"/>
          </a:p>
        </p:txBody>
      </p:sp>
      <p:sp>
        <p:nvSpPr>
          <p:cNvPr id="18" name="Shape 16"/>
          <p:cNvSpPr/>
          <p:nvPr/>
        </p:nvSpPr>
        <p:spPr>
          <a:xfrm>
            <a:off x="6199632" y="1508760"/>
            <a:ext cx="5440680" cy="685800"/>
          </a:xfrm>
          <a:prstGeom prst="roundRect">
            <a:avLst>
              <a:gd name="adj" fmla="val 9333"/>
            </a:avLst>
          </a:prstGeom>
          <a:solidFill>
            <a:srgbClr val="EEEDFE"/>
          </a:solidFill>
          <a:ln w="9525">
            <a:solidFill>
              <a:srgbClr val="7F77DD"/>
            </a:solidFill>
            <a:prstDash val="solid"/>
          </a:ln>
        </p:spPr>
      </p:sp>
      <p:sp>
        <p:nvSpPr>
          <p:cNvPr id="19" name="Text 17"/>
          <p:cNvSpPr txBox="1"/>
          <p:nvPr/>
        </p:nvSpPr>
        <p:spPr>
          <a:xfrm>
            <a:off x="6428232" y="1581912"/>
            <a:ext cx="4983480" cy="237744"/>
          </a:xfrm>
          <a:prstGeom prst="rect">
            <a:avLst/>
          </a:prstGeom>
          <a:noFill/>
          <a:ln/>
        </p:spPr>
        <p:txBody>
          <a:bodyPr wrap="square" lIns="0" tIns="0" rIns="0" bIns="0" rtlCol="0" anchor="ctr"/>
          <a:lstStyle/>
          <a:p>
            <a:pPr marL="0" indent="0">
              <a:buNone/>
            </a:pPr>
            <a:r>
              <a:rPr lang="en-US" sz="1300" b="1" dirty="0">
                <a:solidFill>
                  <a:srgbClr val="534AB7"/>
                </a:solidFill>
                <a:latin typeface="Calibri" pitchFamily="34" charset="0"/>
                <a:ea typeface="Calibri" pitchFamily="34" charset="-122"/>
                <a:cs typeface="Calibri" pitchFamily="34" charset="-120"/>
              </a:rPr>
              <a:t>EHR integration</a:t>
            </a:r>
            <a:endParaRPr lang="en-US" sz="1300" dirty="0"/>
          </a:p>
        </p:txBody>
      </p:sp>
      <p:sp>
        <p:nvSpPr>
          <p:cNvPr id="20" name="Text 18"/>
          <p:cNvSpPr txBox="1"/>
          <p:nvPr/>
        </p:nvSpPr>
        <p:spPr>
          <a:xfrm>
            <a:off x="6428232" y="1837944"/>
            <a:ext cx="4983480" cy="292608"/>
          </a:xfrm>
          <a:prstGeom prst="rect">
            <a:avLst/>
          </a:prstGeom>
          <a:noFill/>
          <a:ln/>
        </p:spPr>
        <p:txBody>
          <a:bodyPr wrap="square" lIns="0" tIns="0" rIns="0" bIns="0" rtlCol="0" anchor="ctr"/>
          <a:lstStyle/>
          <a:p>
            <a:pPr marL="0" indent="0">
              <a:buNone/>
            </a:pPr>
            <a:r>
              <a:rPr lang="en-US" sz="1050" dirty="0">
                <a:solidFill>
                  <a:srgbClr val="534AB7"/>
                </a:solidFill>
                <a:latin typeface="Calibri" pitchFamily="34" charset="0"/>
                <a:ea typeface="Calibri" pitchFamily="34" charset="-122"/>
                <a:cs typeface="Calibri" pitchFamily="34" charset="-120"/>
              </a:rPr>
              <a:t>Connect to hospital records through the FHIR adapter already built</a:t>
            </a:r>
            <a:endParaRPr lang="en-US" sz="1050" dirty="0"/>
          </a:p>
        </p:txBody>
      </p:sp>
      <p:sp>
        <p:nvSpPr>
          <p:cNvPr id="21" name="Shape 19"/>
          <p:cNvSpPr/>
          <p:nvPr/>
        </p:nvSpPr>
        <p:spPr>
          <a:xfrm>
            <a:off x="6199632" y="2286000"/>
            <a:ext cx="5440680" cy="685800"/>
          </a:xfrm>
          <a:prstGeom prst="roundRect">
            <a:avLst>
              <a:gd name="adj" fmla="val 9333"/>
            </a:avLst>
          </a:prstGeom>
          <a:solidFill>
            <a:srgbClr val="EEEDFE"/>
          </a:solidFill>
          <a:ln w="9525">
            <a:solidFill>
              <a:srgbClr val="7F77DD"/>
            </a:solidFill>
            <a:prstDash val="solid"/>
          </a:ln>
        </p:spPr>
      </p:sp>
      <p:sp>
        <p:nvSpPr>
          <p:cNvPr id="22" name="Text 20"/>
          <p:cNvSpPr txBox="1"/>
          <p:nvPr/>
        </p:nvSpPr>
        <p:spPr>
          <a:xfrm>
            <a:off x="6428232" y="2359152"/>
            <a:ext cx="4983480" cy="237744"/>
          </a:xfrm>
          <a:prstGeom prst="rect">
            <a:avLst/>
          </a:prstGeom>
          <a:noFill/>
          <a:ln/>
        </p:spPr>
        <p:txBody>
          <a:bodyPr wrap="square" lIns="0" tIns="0" rIns="0" bIns="0" rtlCol="0" anchor="ctr"/>
          <a:lstStyle/>
          <a:p>
            <a:pPr marL="0" indent="0">
              <a:buNone/>
            </a:pPr>
            <a:r>
              <a:rPr lang="en-US" sz="1300" b="1" dirty="0">
                <a:solidFill>
                  <a:srgbClr val="534AB7"/>
                </a:solidFill>
                <a:latin typeface="Calibri" pitchFamily="34" charset="0"/>
                <a:ea typeface="Calibri" pitchFamily="34" charset="-122"/>
                <a:cs typeface="Calibri" pitchFamily="34" charset="-120"/>
              </a:rPr>
              <a:t>Predictive risk</a:t>
            </a:r>
            <a:endParaRPr lang="en-US" sz="1300" dirty="0"/>
          </a:p>
        </p:txBody>
      </p:sp>
      <p:sp>
        <p:nvSpPr>
          <p:cNvPr id="23" name="Text 21"/>
          <p:cNvSpPr txBox="1"/>
          <p:nvPr/>
        </p:nvSpPr>
        <p:spPr>
          <a:xfrm>
            <a:off x="6428232" y="2615184"/>
            <a:ext cx="4983480" cy="292608"/>
          </a:xfrm>
          <a:prstGeom prst="rect">
            <a:avLst/>
          </a:prstGeom>
          <a:noFill/>
          <a:ln/>
        </p:spPr>
        <p:txBody>
          <a:bodyPr wrap="square" lIns="0" tIns="0" rIns="0" bIns="0" rtlCol="0" anchor="ctr"/>
          <a:lstStyle/>
          <a:p>
            <a:pPr marL="0" indent="0">
              <a:buNone/>
            </a:pPr>
            <a:r>
              <a:rPr lang="en-US" sz="1050" dirty="0">
                <a:solidFill>
                  <a:srgbClr val="534AB7"/>
                </a:solidFill>
                <a:latin typeface="Calibri" pitchFamily="34" charset="0"/>
                <a:ea typeface="Calibri" pitchFamily="34" charset="-122"/>
                <a:cs typeface="Calibri" pitchFamily="34" charset="-120"/>
              </a:rPr>
              <a:t>Flag sites that will fail before they do, from historical trajectories</a:t>
            </a:r>
            <a:endParaRPr lang="en-US" sz="1050" dirty="0"/>
          </a:p>
        </p:txBody>
      </p:sp>
      <p:sp>
        <p:nvSpPr>
          <p:cNvPr id="24" name="Shape 22"/>
          <p:cNvSpPr/>
          <p:nvPr/>
        </p:nvSpPr>
        <p:spPr>
          <a:xfrm>
            <a:off x="6199632" y="3063240"/>
            <a:ext cx="5440680" cy="685800"/>
          </a:xfrm>
          <a:prstGeom prst="roundRect">
            <a:avLst>
              <a:gd name="adj" fmla="val 9333"/>
            </a:avLst>
          </a:prstGeom>
          <a:solidFill>
            <a:srgbClr val="EEEDFE"/>
          </a:solidFill>
          <a:ln w="9525">
            <a:solidFill>
              <a:srgbClr val="7F77DD"/>
            </a:solidFill>
            <a:prstDash val="solid"/>
          </a:ln>
        </p:spPr>
      </p:sp>
      <p:sp>
        <p:nvSpPr>
          <p:cNvPr id="25" name="Text 23"/>
          <p:cNvSpPr txBox="1"/>
          <p:nvPr/>
        </p:nvSpPr>
        <p:spPr>
          <a:xfrm>
            <a:off x="6428232" y="3136392"/>
            <a:ext cx="4983480" cy="237744"/>
          </a:xfrm>
          <a:prstGeom prst="rect">
            <a:avLst/>
          </a:prstGeom>
          <a:noFill/>
          <a:ln/>
        </p:spPr>
        <p:txBody>
          <a:bodyPr wrap="square" lIns="0" tIns="0" rIns="0" bIns="0" rtlCol="0" anchor="ctr"/>
          <a:lstStyle/>
          <a:p>
            <a:pPr marL="0" indent="0">
              <a:buNone/>
            </a:pPr>
            <a:r>
              <a:rPr lang="en-US" sz="1300" b="1" dirty="0">
                <a:solidFill>
                  <a:srgbClr val="534AB7"/>
                </a:solidFill>
                <a:latin typeface="Calibri" pitchFamily="34" charset="0"/>
                <a:ea typeface="Calibri" pitchFamily="34" charset="-122"/>
                <a:cs typeface="Calibri" pitchFamily="34" charset="-120"/>
              </a:rPr>
              <a:t>Multi-protocol support</a:t>
            </a:r>
            <a:endParaRPr lang="en-US" sz="1300" dirty="0"/>
          </a:p>
        </p:txBody>
      </p:sp>
      <p:sp>
        <p:nvSpPr>
          <p:cNvPr id="26" name="Text 24"/>
          <p:cNvSpPr txBox="1"/>
          <p:nvPr/>
        </p:nvSpPr>
        <p:spPr>
          <a:xfrm>
            <a:off x="6428232" y="3392424"/>
            <a:ext cx="4983480" cy="292608"/>
          </a:xfrm>
          <a:prstGeom prst="rect">
            <a:avLst/>
          </a:prstGeom>
          <a:noFill/>
          <a:ln/>
        </p:spPr>
        <p:txBody>
          <a:bodyPr wrap="square" lIns="0" tIns="0" rIns="0" bIns="0" rtlCol="0" anchor="ctr"/>
          <a:lstStyle/>
          <a:p>
            <a:pPr marL="0" indent="0">
              <a:buNone/>
            </a:pPr>
            <a:r>
              <a:rPr lang="en-US" sz="1050" dirty="0">
                <a:solidFill>
                  <a:srgbClr val="534AB7"/>
                </a:solidFill>
                <a:latin typeface="Calibri" pitchFamily="34" charset="0"/>
                <a:ea typeface="Calibri" pitchFamily="34" charset="-122"/>
                <a:cs typeface="Calibri" pitchFamily="34" charset="-120"/>
              </a:rPr>
              <a:t>Generalise beyond PHOENIX-301 to any protocol specification</a:t>
            </a:r>
            <a:endParaRPr lang="en-US" sz="1050" dirty="0"/>
          </a:p>
        </p:txBody>
      </p:sp>
      <p:sp>
        <p:nvSpPr>
          <p:cNvPr id="27" name="Shape 25"/>
          <p:cNvSpPr/>
          <p:nvPr/>
        </p:nvSpPr>
        <p:spPr>
          <a:xfrm>
            <a:off x="6199632" y="3840480"/>
            <a:ext cx="5440680" cy="685800"/>
          </a:xfrm>
          <a:prstGeom prst="roundRect">
            <a:avLst>
              <a:gd name="adj" fmla="val 9333"/>
            </a:avLst>
          </a:prstGeom>
          <a:solidFill>
            <a:srgbClr val="EEEDFE"/>
          </a:solidFill>
          <a:ln w="9525">
            <a:solidFill>
              <a:srgbClr val="7F77DD"/>
            </a:solidFill>
            <a:prstDash val="solid"/>
          </a:ln>
        </p:spPr>
      </p:sp>
      <p:sp>
        <p:nvSpPr>
          <p:cNvPr id="28" name="Text 26"/>
          <p:cNvSpPr txBox="1"/>
          <p:nvPr/>
        </p:nvSpPr>
        <p:spPr>
          <a:xfrm>
            <a:off x="6428232" y="3913632"/>
            <a:ext cx="4983480" cy="237744"/>
          </a:xfrm>
          <a:prstGeom prst="rect">
            <a:avLst/>
          </a:prstGeom>
          <a:noFill/>
          <a:ln/>
        </p:spPr>
        <p:txBody>
          <a:bodyPr wrap="square" lIns="0" tIns="0" rIns="0" bIns="0" rtlCol="0" anchor="ctr"/>
          <a:lstStyle/>
          <a:p>
            <a:pPr marL="0" indent="0">
              <a:buNone/>
            </a:pPr>
            <a:r>
              <a:rPr lang="en-US" sz="1300" b="1" dirty="0">
                <a:solidFill>
                  <a:srgbClr val="534AB7"/>
                </a:solidFill>
                <a:latin typeface="Calibri" pitchFamily="34" charset="0"/>
                <a:ea typeface="Calibri" pitchFamily="34" charset="-122"/>
                <a:cs typeface="Calibri" pitchFamily="34" charset="-120"/>
              </a:rPr>
              <a:t>Proactive Bob alerts</a:t>
            </a:r>
            <a:endParaRPr lang="en-US" sz="1300" dirty="0"/>
          </a:p>
        </p:txBody>
      </p:sp>
      <p:sp>
        <p:nvSpPr>
          <p:cNvPr id="29" name="Text 27"/>
          <p:cNvSpPr txBox="1"/>
          <p:nvPr/>
        </p:nvSpPr>
        <p:spPr>
          <a:xfrm>
            <a:off x="6428232" y="4169664"/>
            <a:ext cx="4983480" cy="292608"/>
          </a:xfrm>
          <a:prstGeom prst="rect">
            <a:avLst/>
          </a:prstGeom>
          <a:noFill/>
          <a:ln/>
        </p:spPr>
        <p:txBody>
          <a:bodyPr wrap="square" lIns="0" tIns="0" rIns="0" bIns="0" rtlCol="0" anchor="ctr"/>
          <a:lstStyle/>
          <a:p>
            <a:pPr marL="0" indent="0">
              <a:buNone/>
            </a:pPr>
            <a:r>
              <a:rPr lang="en-US" sz="1050" dirty="0">
                <a:solidFill>
                  <a:srgbClr val="534AB7"/>
                </a:solidFill>
                <a:latin typeface="Calibri" pitchFamily="34" charset="0"/>
                <a:ea typeface="Calibri" pitchFamily="34" charset="-122"/>
                <a:cs typeface="Calibri" pitchFamily="34" charset="-120"/>
              </a:rPr>
              <a:t>Bob warns managers when a score spikes instead of waiting to be asked</a:t>
            </a:r>
            <a:endParaRPr lang="en-US" sz="1050" dirty="0"/>
          </a:p>
        </p:txBody>
      </p:sp>
      <p:sp>
        <p:nvSpPr>
          <p:cNvPr id="30" name="Text 28"/>
          <p:cNvSpPr txBox="1"/>
          <p:nvPr/>
        </p:nvSpPr>
        <p:spPr>
          <a:xfrm>
            <a:off x="548640" y="4846320"/>
            <a:ext cx="3575304" cy="548640"/>
          </a:xfrm>
          <a:prstGeom prst="rect">
            <a:avLst/>
          </a:prstGeom>
          <a:noFill/>
          <a:ln/>
        </p:spPr>
        <p:txBody>
          <a:bodyPr wrap="square" lIns="0" tIns="0" rIns="0" bIns="0" rtlCol="0" anchor="ctr"/>
          <a:lstStyle/>
          <a:p>
            <a:pPr marL="0" indent="0" algn="ctr">
              <a:buNone/>
            </a:pPr>
            <a:r>
              <a:rPr lang="en-US" sz="3400" b="1" dirty="0">
                <a:solidFill>
                  <a:srgbClr val="2C2C2A"/>
                </a:solidFill>
                <a:latin typeface="Cambria" pitchFamily="34" charset="0"/>
                <a:ea typeface="Cambria" pitchFamily="34" charset="-122"/>
                <a:cs typeface="Cambria" pitchFamily="34" charset="-120"/>
              </a:rPr>
              <a:t>895</a:t>
            </a:r>
            <a:endParaRPr lang="en-US" sz="3400" dirty="0"/>
          </a:p>
        </p:txBody>
      </p:sp>
      <p:sp>
        <p:nvSpPr>
          <p:cNvPr id="31" name="Text 29"/>
          <p:cNvSpPr txBox="1"/>
          <p:nvPr/>
        </p:nvSpPr>
        <p:spPr>
          <a:xfrm>
            <a:off x="548640" y="5422392"/>
            <a:ext cx="3575304" cy="320040"/>
          </a:xfrm>
          <a:prstGeom prst="rect">
            <a:avLst/>
          </a:prstGeom>
          <a:noFill/>
          <a:ln/>
        </p:spPr>
        <p:txBody>
          <a:bodyPr wrap="square" lIns="0" tIns="0" rIns="0" bIns="0" rtlCol="0" anchor="ctr"/>
          <a:lstStyle/>
          <a:p>
            <a:pPr marL="0" indent="0" algn="ctr">
              <a:buNone/>
            </a:pPr>
            <a:r>
              <a:rPr lang="en-US" sz="1100" dirty="0">
                <a:solidFill>
                  <a:srgbClr val="5F5E5A"/>
                </a:solidFill>
                <a:latin typeface="Calibri" pitchFamily="34" charset="0"/>
                <a:ea typeface="Calibri" pitchFamily="34" charset="-122"/>
                <a:cs typeface="Calibri" pitchFamily="34" charset="-120"/>
              </a:rPr>
              <a:t>deviations detected, zero manual review</a:t>
            </a:r>
            <a:endParaRPr lang="en-US" sz="1100" dirty="0"/>
          </a:p>
        </p:txBody>
      </p:sp>
      <p:sp>
        <p:nvSpPr>
          <p:cNvPr id="32" name="Text 30"/>
          <p:cNvSpPr txBox="1"/>
          <p:nvPr/>
        </p:nvSpPr>
        <p:spPr>
          <a:xfrm>
            <a:off x="4306824" y="4846320"/>
            <a:ext cx="3575304" cy="548640"/>
          </a:xfrm>
          <a:prstGeom prst="rect">
            <a:avLst/>
          </a:prstGeom>
          <a:noFill/>
          <a:ln/>
        </p:spPr>
        <p:txBody>
          <a:bodyPr wrap="square" lIns="0" tIns="0" rIns="0" bIns="0" rtlCol="0" anchor="ctr"/>
          <a:lstStyle/>
          <a:p>
            <a:pPr marL="0" indent="0" algn="ctr">
              <a:buNone/>
            </a:pPr>
            <a:r>
              <a:rPr lang="en-US" sz="3400" b="1" dirty="0">
                <a:solidFill>
                  <a:srgbClr val="2C2C2A"/>
                </a:solidFill>
                <a:latin typeface="Cambria" pitchFamily="34" charset="0"/>
                <a:ea typeface="Cambria" pitchFamily="34" charset="-122"/>
                <a:cs typeface="Cambria" pitchFamily="34" charset="-120"/>
              </a:rPr>
              <a:t>210</a:t>
            </a:r>
            <a:endParaRPr lang="en-US" sz="3400" dirty="0"/>
          </a:p>
        </p:txBody>
      </p:sp>
      <p:sp>
        <p:nvSpPr>
          <p:cNvPr id="33" name="Text 31"/>
          <p:cNvSpPr txBox="1"/>
          <p:nvPr/>
        </p:nvSpPr>
        <p:spPr>
          <a:xfrm>
            <a:off x="4306824" y="5422392"/>
            <a:ext cx="3575304" cy="320040"/>
          </a:xfrm>
          <a:prstGeom prst="rect">
            <a:avLst/>
          </a:prstGeom>
          <a:noFill/>
          <a:ln/>
        </p:spPr>
        <p:txBody>
          <a:bodyPr wrap="square" lIns="0" tIns="0" rIns="0" bIns="0" rtlCol="0" anchor="ctr"/>
          <a:lstStyle/>
          <a:p>
            <a:pPr marL="0" indent="0" algn="ctr">
              <a:buNone/>
            </a:pPr>
            <a:r>
              <a:rPr lang="en-US" sz="1100" dirty="0">
                <a:solidFill>
                  <a:srgbClr val="5F5E5A"/>
                </a:solidFill>
                <a:latin typeface="Calibri" pitchFamily="34" charset="0"/>
                <a:ea typeface="Calibri" pitchFamily="34" charset="-122"/>
                <a:cs typeface="Calibri" pitchFamily="34" charset="-120"/>
              </a:rPr>
              <a:t>sites continuously scored and ranked</a:t>
            </a:r>
            <a:endParaRPr lang="en-US" sz="1100" dirty="0"/>
          </a:p>
        </p:txBody>
      </p:sp>
      <p:sp>
        <p:nvSpPr>
          <p:cNvPr id="34" name="Text 32"/>
          <p:cNvSpPr txBox="1"/>
          <p:nvPr/>
        </p:nvSpPr>
        <p:spPr>
          <a:xfrm>
            <a:off x="8065008" y="4846320"/>
            <a:ext cx="3575304" cy="548640"/>
          </a:xfrm>
          <a:prstGeom prst="rect">
            <a:avLst/>
          </a:prstGeom>
          <a:noFill/>
          <a:ln/>
        </p:spPr>
        <p:txBody>
          <a:bodyPr wrap="square" lIns="0" tIns="0" rIns="0" bIns="0" rtlCol="0" anchor="ctr"/>
          <a:lstStyle/>
          <a:p>
            <a:pPr marL="0" indent="0" algn="ctr">
              <a:buNone/>
            </a:pPr>
            <a:r>
              <a:rPr lang="en-US" sz="3400" b="1" dirty="0">
                <a:solidFill>
                  <a:srgbClr val="2C2C2A"/>
                </a:solidFill>
                <a:latin typeface="Cambria" pitchFamily="34" charset="0"/>
                <a:ea typeface="Cambria" pitchFamily="34" charset="-122"/>
                <a:cs typeface="Cambria" pitchFamily="34" charset="-120"/>
              </a:rPr>
              <a:t>5</a:t>
            </a:r>
            <a:endParaRPr lang="en-US" sz="3400" dirty="0"/>
          </a:p>
        </p:txBody>
      </p:sp>
      <p:sp>
        <p:nvSpPr>
          <p:cNvPr id="35" name="Text 33"/>
          <p:cNvSpPr txBox="1"/>
          <p:nvPr/>
        </p:nvSpPr>
        <p:spPr>
          <a:xfrm>
            <a:off x="8065008" y="5422392"/>
            <a:ext cx="3575304" cy="320040"/>
          </a:xfrm>
          <a:prstGeom prst="rect">
            <a:avLst/>
          </a:prstGeom>
          <a:noFill/>
          <a:ln/>
        </p:spPr>
        <p:txBody>
          <a:bodyPr wrap="square" lIns="0" tIns="0" rIns="0" bIns="0" rtlCol="0" anchor="ctr"/>
          <a:lstStyle/>
          <a:p>
            <a:pPr marL="0" indent="0" algn="ctr">
              <a:buNone/>
            </a:pPr>
            <a:r>
              <a:rPr lang="en-US" sz="1100" dirty="0">
                <a:solidFill>
                  <a:srgbClr val="5F5E5A"/>
                </a:solidFill>
                <a:latin typeface="Calibri" pitchFamily="34" charset="0"/>
                <a:ea typeface="Calibri" pitchFamily="34" charset="-122"/>
                <a:cs typeface="Calibri" pitchFamily="34" charset="-120"/>
              </a:rPr>
              <a:t>MCP tools exposing the engine to Bob</a:t>
            </a:r>
            <a:endParaRPr lang="en-US" sz="1100" dirty="0"/>
          </a:p>
        </p:txBody>
      </p:sp>
      <p:sp>
        <p:nvSpPr>
          <p:cNvPr id="36" name="Shape 34"/>
          <p:cNvSpPr/>
          <p:nvPr/>
        </p:nvSpPr>
        <p:spPr>
          <a:xfrm>
            <a:off x="548640" y="5852160"/>
            <a:ext cx="11091672" cy="658368"/>
          </a:xfrm>
          <a:prstGeom prst="roundRect">
            <a:avLst>
              <a:gd name="adj" fmla="val 9722"/>
            </a:avLst>
          </a:prstGeom>
          <a:solidFill>
            <a:srgbClr val="E1F5EE"/>
          </a:solidFill>
          <a:ln w="9525">
            <a:solidFill>
              <a:srgbClr val="1D9E75"/>
            </a:solidFill>
            <a:prstDash val="solid"/>
          </a:ln>
        </p:spPr>
      </p:sp>
      <p:sp>
        <p:nvSpPr>
          <p:cNvPr id="37" name="Text 35"/>
          <p:cNvSpPr txBox="1"/>
          <p:nvPr/>
        </p:nvSpPr>
        <p:spPr>
          <a:xfrm>
            <a:off x="822960" y="5998464"/>
            <a:ext cx="10515600" cy="365760"/>
          </a:xfrm>
          <a:prstGeom prst="rect">
            <a:avLst/>
          </a:prstGeom>
          <a:noFill/>
          <a:ln/>
        </p:spPr>
        <p:txBody>
          <a:bodyPr wrap="square" lIns="0" tIns="0" rIns="0" bIns="0" rtlCol="0" anchor="ctr"/>
          <a:lstStyle/>
          <a:p>
            <a:pPr marL="0" indent="0" algn="ctr">
              <a:buNone/>
            </a:pPr>
            <a:r>
              <a:rPr lang="en-US" sz="1500" b="1" dirty="0">
                <a:solidFill>
                  <a:srgbClr val="0F6E56"/>
                </a:solidFill>
                <a:latin typeface="Calibri" pitchFamily="34" charset="0"/>
                <a:ea typeface="Calibri" pitchFamily="34" charset="-122"/>
                <a:cs typeface="Calibri" pitchFamily="34" charset="-120"/>
              </a:rPr>
              <a:t>Deterministic where it must be. Conversational where it helps. Regulatory-ready throughout.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2324</Words>
  <Application>Microsoft Macintosh PowerPoint</Application>
  <PresentationFormat>Widescreen</PresentationFormat>
  <Paragraphs>241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24IT041 PRIYABEN KHENI</cp:lastModifiedBy>
  <cp:revision>2</cp:revision>
  <dcterms:created xsi:type="dcterms:W3CDTF">2026-09-15T14:47:27Z</dcterms:created>
  <dcterms:modified xsi:type="dcterms:W3CDTF">2026-09-15T15:04:10Z</dcterms:modified>
</cp:coreProperties>
</file>